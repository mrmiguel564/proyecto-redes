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notesMasterIdLst>
    <p:notesMasterId r:id="rId21"/>
  </p:notesMasterIdLst>
  <p:sldIdLst>
    <p:sldId id="256" r:id="rId2"/>
    <p:sldId id="257" r:id="rId3"/>
    <p:sldId id="258" r:id="rId4"/>
    <p:sldId id="263" r:id="rId5"/>
    <p:sldId id="264" r:id="rId6"/>
    <p:sldId id="267" r:id="rId7"/>
    <p:sldId id="270" r:id="rId8"/>
    <p:sldId id="268" r:id="rId9"/>
    <p:sldId id="274" r:id="rId10"/>
    <p:sldId id="259" r:id="rId11"/>
    <p:sldId id="269" r:id="rId12"/>
    <p:sldId id="273" r:id="rId13"/>
    <p:sldId id="266" r:id="rId14"/>
    <p:sldId id="271" r:id="rId15"/>
    <p:sldId id="272" r:id="rId16"/>
    <p:sldId id="265" r:id="rId17"/>
    <p:sldId id="260" r:id="rId18"/>
    <p:sldId id="261" r:id="rId19"/>
    <p:sldId id="262" r:id="rId20"/>
  </p:sldIdLst>
  <p:sldSz cx="12192000" cy="6858000"/>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E6959D7-79F3-4013-AE13-2B9A5428FA20}" v="44" dt="2025-11-11T03:25:49.2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7533" autoAdjust="0"/>
  </p:normalViewPr>
  <p:slideViewPr>
    <p:cSldViewPr snapToGrid="0">
      <p:cViewPr varScale="1">
        <p:scale>
          <a:sx n="95" d="100"/>
          <a:sy n="95" d="100"/>
        </p:scale>
        <p:origin x="1474" y="1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ko A7x" userId="20328c26abaa9d6f" providerId="LiveId" clId="{38BF1695-285C-4F7B-912C-7C10D0494CBE}"/>
    <pc:docChg chg="undo custSel addSld modSld addMainMaster delMainMaster">
      <pc:chgData name="Niko A7x" userId="20328c26abaa9d6f" providerId="LiveId" clId="{38BF1695-285C-4F7B-912C-7C10D0494CBE}" dt="2025-11-11T03:27:08.993" v="314" actId="27636"/>
      <pc:docMkLst>
        <pc:docMk/>
      </pc:docMkLst>
      <pc:sldChg chg="addSp delSp modSp new mod setBg modClrScheme chgLayout">
        <pc:chgData name="Niko A7x" userId="20328c26abaa9d6f" providerId="LiveId" clId="{38BF1695-285C-4F7B-912C-7C10D0494CBE}" dt="2025-11-11T02:29:29.079" v="63" actId="27636"/>
        <pc:sldMkLst>
          <pc:docMk/>
          <pc:sldMk cId="1162733844" sldId="256"/>
        </pc:sldMkLst>
        <pc:spChg chg="mod">
          <ac:chgData name="Niko A7x" userId="20328c26abaa9d6f" providerId="LiveId" clId="{38BF1695-285C-4F7B-912C-7C10D0494CBE}" dt="2025-11-11T02:28:44.078" v="38" actId="26606"/>
          <ac:spMkLst>
            <pc:docMk/>
            <pc:sldMk cId="1162733844" sldId="256"/>
            <ac:spMk id="2" creationId="{38B3FCF9-22C2-FCF6-0488-6D7C750B3D21}"/>
          </ac:spMkLst>
        </pc:spChg>
        <pc:spChg chg="del">
          <ac:chgData name="Niko A7x" userId="20328c26abaa9d6f" providerId="LiveId" clId="{38BF1695-285C-4F7B-912C-7C10D0494CBE}" dt="2025-11-11T02:26:36.435" v="9"/>
          <ac:spMkLst>
            <pc:docMk/>
            <pc:sldMk cId="1162733844" sldId="256"/>
            <ac:spMk id="3" creationId="{22CC0B21-B87D-742A-21CD-9988F7A5D531}"/>
          </ac:spMkLst>
        </pc:spChg>
        <pc:spChg chg="add mod">
          <ac:chgData name="Niko A7x" userId="20328c26abaa9d6f" providerId="LiveId" clId="{38BF1695-285C-4F7B-912C-7C10D0494CBE}" dt="2025-11-11T02:29:29.079" v="63" actId="27636"/>
          <ac:spMkLst>
            <pc:docMk/>
            <pc:sldMk cId="1162733844" sldId="256"/>
            <ac:spMk id="4" creationId="{6DD399A3-E2CD-C4A7-BC53-2D7C78BE879A}"/>
          </ac:spMkLst>
        </pc:spChg>
        <pc:spChg chg="add">
          <ac:chgData name="Niko A7x" userId="20328c26abaa9d6f" providerId="LiveId" clId="{38BF1695-285C-4F7B-912C-7C10D0494CBE}" dt="2025-11-11T02:28:44.078" v="38" actId="26606"/>
          <ac:spMkLst>
            <pc:docMk/>
            <pc:sldMk cId="1162733844" sldId="256"/>
            <ac:spMk id="9" creationId="{92CC1E4F-F1F0-B945-BE50-C72A7103E8AC}"/>
          </ac:spMkLst>
        </pc:spChg>
        <pc:picChg chg="add">
          <ac:chgData name="Niko A7x" userId="20328c26abaa9d6f" providerId="LiveId" clId="{38BF1695-285C-4F7B-912C-7C10D0494CBE}" dt="2025-11-11T02:28:44.078" v="38" actId="26606"/>
          <ac:picMkLst>
            <pc:docMk/>
            <pc:sldMk cId="1162733844" sldId="256"/>
            <ac:picMk id="6" creationId="{C7BCA24D-F163-1FDB-E733-1BBDAB2A5A72}"/>
          </ac:picMkLst>
        </pc:picChg>
      </pc:sldChg>
      <pc:sldChg chg="addSp delSp modSp new mod setBg">
        <pc:chgData name="Niko A7x" userId="20328c26abaa9d6f" providerId="LiveId" clId="{38BF1695-285C-4F7B-912C-7C10D0494CBE}" dt="2025-11-11T02:44:11.490" v="85" actId="20577"/>
        <pc:sldMkLst>
          <pc:docMk/>
          <pc:sldMk cId="1671452555" sldId="257"/>
        </pc:sldMkLst>
        <pc:spChg chg="mod">
          <ac:chgData name="Niko A7x" userId="20328c26abaa9d6f" providerId="LiveId" clId="{38BF1695-285C-4F7B-912C-7C10D0494CBE}" dt="2025-11-11T02:43:04.448" v="74" actId="26606"/>
          <ac:spMkLst>
            <pc:docMk/>
            <pc:sldMk cId="1671452555" sldId="257"/>
            <ac:spMk id="2" creationId="{84E5D98E-45A8-9C04-9392-26DF52338716}"/>
          </ac:spMkLst>
        </pc:spChg>
        <pc:spChg chg="del">
          <ac:chgData name="Niko A7x" userId="20328c26abaa9d6f" providerId="LiveId" clId="{38BF1695-285C-4F7B-912C-7C10D0494CBE}" dt="2025-11-11T02:41:51.197" v="66"/>
          <ac:spMkLst>
            <pc:docMk/>
            <pc:sldMk cId="1671452555" sldId="257"/>
            <ac:spMk id="3" creationId="{A628AB7D-C1C1-F4DD-69A8-9C45D0757488}"/>
          </ac:spMkLst>
        </pc:spChg>
        <pc:spChg chg="add mod">
          <ac:chgData name="Niko A7x" userId="20328c26abaa9d6f" providerId="LiveId" clId="{38BF1695-285C-4F7B-912C-7C10D0494CBE}" dt="2025-11-11T02:44:11.490" v="85" actId="20577"/>
          <ac:spMkLst>
            <pc:docMk/>
            <pc:sldMk cId="1671452555" sldId="257"/>
            <ac:spMk id="4" creationId="{4163AE12-FBB8-A78F-747F-14604E99ED8F}"/>
          </ac:spMkLst>
        </pc:spChg>
        <pc:spChg chg="add">
          <ac:chgData name="Niko A7x" userId="20328c26abaa9d6f" providerId="LiveId" clId="{38BF1695-285C-4F7B-912C-7C10D0494CBE}" dt="2025-11-11T02:43:04.448" v="74" actId="26606"/>
          <ac:spMkLst>
            <pc:docMk/>
            <pc:sldMk cId="1671452555" sldId="257"/>
            <ac:spMk id="11" creationId="{6ACA6F80-D392-A64E-3CF8-F28F1CCEE67B}"/>
          </ac:spMkLst>
        </pc:spChg>
        <pc:picChg chg="add mod">
          <ac:chgData name="Niko A7x" userId="20328c26abaa9d6f" providerId="LiveId" clId="{38BF1695-285C-4F7B-912C-7C10D0494CBE}" dt="2025-11-11T02:43:22.171" v="79" actId="1076"/>
          <ac:picMkLst>
            <pc:docMk/>
            <pc:sldMk cId="1671452555" sldId="257"/>
            <ac:picMk id="8" creationId="{DC9452D4-E0B6-6737-5393-89512871B0D3}"/>
          </ac:picMkLst>
        </pc:picChg>
      </pc:sldChg>
      <pc:sldChg chg="addSp delSp modSp new mod setBg">
        <pc:chgData name="Niko A7x" userId="20328c26abaa9d6f" providerId="LiveId" clId="{38BF1695-285C-4F7B-912C-7C10D0494CBE}" dt="2025-11-11T03:09:45.544" v="170" actId="20577"/>
        <pc:sldMkLst>
          <pc:docMk/>
          <pc:sldMk cId="4272429548" sldId="258"/>
        </pc:sldMkLst>
        <pc:spChg chg="mod">
          <ac:chgData name="Niko A7x" userId="20328c26abaa9d6f" providerId="LiveId" clId="{38BF1695-285C-4F7B-912C-7C10D0494CBE}" dt="2025-11-11T03:02:54.982" v="116" actId="27636"/>
          <ac:spMkLst>
            <pc:docMk/>
            <pc:sldMk cId="4272429548" sldId="258"/>
            <ac:spMk id="2" creationId="{34EA09C7-E3C1-6568-5E31-081B55229B8D}"/>
          </ac:spMkLst>
        </pc:spChg>
        <pc:spChg chg="add del mod">
          <ac:chgData name="Niko A7x" userId="20328c26abaa9d6f" providerId="LiveId" clId="{38BF1695-285C-4F7B-912C-7C10D0494CBE}" dt="2025-11-11T03:08:47.224" v="165" actId="113"/>
          <ac:spMkLst>
            <pc:docMk/>
            <pc:sldMk cId="4272429548" sldId="258"/>
            <ac:spMk id="3" creationId="{8B6B7235-2C05-885F-A613-FFCF543338AF}"/>
          </ac:spMkLst>
        </pc:spChg>
        <pc:spChg chg="add del mod">
          <ac:chgData name="Niko A7x" userId="20328c26abaa9d6f" providerId="LiveId" clId="{38BF1695-285C-4F7B-912C-7C10D0494CBE}" dt="2025-11-11T03:05:08.352" v="117" actId="21"/>
          <ac:spMkLst>
            <pc:docMk/>
            <pc:sldMk cId="4272429548" sldId="258"/>
            <ac:spMk id="5" creationId="{6014C54C-7120-4D31-C518-A72313CF03B7}"/>
          </ac:spMkLst>
        </pc:spChg>
        <pc:spChg chg="add mod">
          <ac:chgData name="Niko A7x" userId="20328c26abaa9d6f" providerId="LiveId" clId="{38BF1695-285C-4F7B-912C-7C10D0494CBE}" dt="2025-11-11T03:09:45.544" v="170" actId="20577"/>
          <ac:spMkLst>
            <pc:docMk/>
            <pc:sldMk cId="4272429548" sldId="258"/>
            <ac:spMk id="6" creationId="{8799049C-162B-E164-AFF1-B3EB5A88C334}"/>
          </ac:spMkLst>
        </pc:spChg>
        <pc:spChg chg="add">
          <ac:chgData name="Niko A7x" userId="20328c26abaa9d6f" providerId="LiveId" clId="{38BF1695-285C-4F7B-912C-7C10D0494CBE}" dt="2025-11-11T03:00:11.101" v="91" actId="26606"/>
          <ac:spMkLst>
            <pc:docMk/>
            <pc:sldMk cId="4272429548" sldId="258"/>
            <ac:spMk id="10" creationId="{6ACA6F80-D392-A64E-3CF8-F28F1CCEE67B}"/>
          </ac:spMkLst>
        </pc:spChg>
        <pc:graphicFrameChg chg="add del">
          <ac:chgData name="Niko A7x" userId="20328c26abaa9d6f" providerId="LiveId" clId="{38BF1695-285C-4F7B-912C-7C10D0494CBE}" dt="2025-11-11T03:06:23.347" v="132" actId="26606"/>
          <ac:graphicFrameMkLst>
            <pc:docMk/>
            <pc:sldMk cId="4272429548" sldId="258"/>
            <ac:graphicFrameMk id="12" creationId="{54329DB0-8FB7-9EDA-7968-5071C48055EA}"/>
          </ac:graphicFrameMkLst>
        </pc:graphicFrameChg>
        <pc:graphicFrameChg chg="add del">
          <ac:chgData name="Niko A7x" userId="20328c26abaa9d6f" providerId="LiveId" clId="{38BF1695-285C-4F7B-912C-7C10D0494CBE}" dt="2025-11-11T03:06:34.009" v="134" actId="26606"/>
          <ac:graphicFrameMkLst>
            <pc:docMk/>
            <pc:sldMk cId="4272429548" sldId="258"/>
            <ac:graphicFrameMk id="13" creationId="{BDB1B7C1-9B01-77D9-317A-B49B2C1D5B2D}"/>
          </ac:graphicFrameMkLst>
        </pc:graphicFrameChg>
        <pc:picChg chg="add mod">
          <ac:chgData name="Niko A7x" userId="20328c26abaa9d6f" providerId="LiveId" clId="{38BF1695-285C-4F7B-912C-7C10D0494CBE}" dt="2025-11-11T03:01:45.518" v="102"/>
          <ac:picMkLst>
            <pc:docMk/>
            <pc:sldMk cId="4272429548" sldId="258"/>
            <ac:picMk id="4" creationId="{9E04AD15-E07D-D332-7D7F-FF129A00634B}"/>
          </ac:picMkLst>
        </pc:picChg>
        <pc:picChg chg="add del">
          <ac:chgData name="Niko A7x" userId="20328c26abaa9d6f" providerId="LiveId" clId="{38BF1695-285C-4F7B-912C-7C10D0494CBE}" dt="2025-11-11T03:01:38.267" v="98" actId="21"/>
          <ac:picMkLst>
            <pc:docMk/>
            <pc:sldMk cId="4272429548" sldId="258"/>
            <ac:picMk id="7" creationId="{9E04AD15-E07D-D332-7D7F-FF129A00634B}"/>
          </ac:picMkLst>
        </pc:picChg>
        <pc:picChg chg="add mod">
          <ac:chgData name="Niko A7x" userId="20328c26abaa9d6f" providerId="LiveId" clId="{38BF1695-285C-4F7B-912C-7C10D0494CBE}" dt="2025-11-11T03:07:58.933" v="158" actId="14100"/>
          <ac:picMkLst>
            <pc:docMk/>
            <pc:sldMk cId="4272429548" sldId="258"/>
            <ac:picMk id="8" creationId="{BA5B6BBC-2690-64CD-F72F-D81BEA2C5D0C}"/>
          </ac:picMkLst>
        </pc:picChg>
      </pc:sldChg>
      <pc:sldChg chg="addSp modSp new mod setBg">
        <pc:chgData name="Niko A7x" userId="20328c26abaa9d6f" providerId="LiveId" clId="{38BF1695-285C-4F7B-912C-7C10D0494CBE}" dt="2025-11-11T03:15:54.036" v="221" actId="113"/>
        <pc:sldMkLst>
          <pc:docMk/>
          <pc:sldMk cId="3873678984" sldId="259"/>
        </pc:sldMkLst>
        <pc:spChg chg="mod">
          <ac:chgData name="Niko A7x" userId="20328c26abaa9d6f" providerId="LiveId" clId="{38BF1695-285C-4F7B-912C-7C10D0494CBE}" dt="2025-11-11T03:14:46.648" v="211" actId="1076"/>
          <ac:spMkLst>
            <pc:docMk/>
            <pc:sldMk cId="3873678984" sldId="259"/>
            <ac:spMk id="2" creationId="{6AC436BC-7D3E-3602-26AE-8CFE4A375670}"/>
          </ac:spMkLst>
        </pc:spChg>
        <pc:spChg chg="mod">
          <ac:chgData name="Niko A7x" userId="20328c26abaa9d6f" providerId="LiveId" clId="{38BF1695-285C-4F7B-912C-7C10D0494CBE}" dt="2025-11-11T03:15:54.036" v="221" actId="113"/>
          <ac:spMkLst>
            <pc:docMk/>
            <pc:sldMk cId="3873678984" sldId="259"/>
            <ac:spMk id="3" creationId="{D26107F9-773C-0C9F-8E37-B20E5AB45B0C}"/>
          </ac:spMkLst>
        </pc:spChg>
        <pc:spChg chg="add mod">
          <ac:chgData name="Niko A7x" userId="20328c26abaa9d6f" providerId="LiveId" clId="{38BF1695-285C-4F7B-912C-7C10D0494CBE}" dt="2025-11-11T03:14:38.639" v="210" actId="20577"/>
          <ac:spMkLst>
            <pc:docMk/>
            <pc:sldMk cId="3873678984" sldId="259"/>
            <ac:spMk id="4" creationId="{38BE287E-C490-A047-D0C3-B60BB21F50DC}"/>
          </ac:spMkLst>
        </pc:spChg>
        <pc:spChg chg="add">
          <ac:chgData name="Niko A7x" userId="20328c26abaa9d6f" providerId="LiveId" clId="{38BF1695-285C-4F7B-912C-7C10D0494CBE}" dt="2025-11-11T03:12:40.597" v="178" actId="26606"/>
          <ac:spMkLst>
            <pc:docMk/>
            <pc:sldMk cId="3873678984" sldId="259"/>
            <ac:spMk id="10" creationId="{6ACA6F80-D392-A64E-3CF8-F28F1CCEE67B}"/>
          </ac:spMkLst>
        </pc:spChg>
        <pc:picChg chg="add mod">
          <ac:chgData name="Niko A7x" userId="20328c26abaa9d6f" providerId="LiveId" clId="{38BF1695-285C-4F7B-912C-7C10D0494CBE}" dt="2025-11-11T03:12:56.392" v="183" actId="1076"/>
          <ac:picMkLst>
            <pc:docMk/>
            <pc:sldMk cId="3873678984" sldId="259"/>
            <ac:picMk id="7" creationId="{B8E358F7-CB98-64A1-1194-8557CD476F93}"/>
          </ac:picMkLst>
        </pc:picChg>
      </pc:sldChg>
      <pc:sldChg chg="addSp delSp modSp new mod setBg">
        <pc:chgData name="Niko A7x" userId="20328c26abaa9d6f" providerId="LiveId" clId="{38BF1695-285C-4F7B-912C-7C10D0494CBE}" dt="2025-11-11T03:26:12.125" v="283" actId="255"/>
        <pc:sldMkLst>
          <pc:docMk/>
          <pc:sldMk cId="1760480427" sldId="260"/>
        </pc:sldMkLst>
        <pc:spChg chg="mod">
          <ac:chgData name="Niko A7x" userId="20328c26abaa9d6f" providerId="LiveId" clId="{38BF1695-285C-4F7B-912C-7C10D0494CBE}" dt="2025-11-11T03:20:22.854" v="234" actId="26606"/>
          <ac:spMkLst>
            <pc:docMk/>
            <pc:sldMk cId="1760480427" sldId="260"/>
            <ac:spMk id="2" creationId="{B1EC7D14-78A2-1887-7436-1FE8B6CB332C}"/>
          </ac:spMkLst>
        </pc:spChg>
        <pc:spChg chg="mod">
          <ac:chgData name="Niko A7x" userId="20328c26abaa9d6f" providerId="LiveId" clId="{38BF1695-285C-4F7B-912C-7C10D0494CBE}" dt="2025-11-11T03:26:12.125" v="283" actId="255"/>
          <ac:spMkLst>
            <pc:docMk/>
            <pc:sldMk cId="1760480427" sldId="260"/>
            <ac:spMk id="3" creationId="{6DAE8358-A19C-8DE2-A0E9-DEBAF475E4F3}"/>
          </ac:spMkLst>
        </pc:spChg>
        <pc:spChg chg="add del">
          <ac:chgData name="Niko A7x" userId="20328c26abaa9d6f" providerId="LiveId" clId="{38BF1695-285C-4F7B-912C-7C10D0494CBE}" dt="2025-11-11T03:20:22.854" v="233" actId="26606"/>
          <ac:spMkLst>
            <pc:docMk/>
            <pc:sldMk cId="1760480427" sldId="260"/>
            <ac:spMk id="10" creationId="{6ACA6F80-D392-A64E-3CF8-F28F1CCEE67B}"/>
          </ac:spMkLst>
        </pc:spChg>
        <pc:spChg chg="add">
          <ac:chgData name="Niko A7x" userId="20328c26abaa9d6f" providerId="LiveId" clId="{38BF1695-285C-4F7B-912C-7C10D0494CBE}" dt="2025-11-11T03:20:22.854" v="234" actId="26606"/>
          <ac:spMkLst>
            <pc:docMk/>
            <pc:sldMk cId="1760480427" sldId="260"/>
            <ac:spMk id="12" creationId="{6ACA6F80-D392-A64E-3CF8-F28F1CCEE67B}"/>
          </ac:spMkLst>
        </pc:spChg>
        <pc:picChg chg="add del">
          <ac:chgData name="Niko A7x" userId="20328c26abaa9d6f" providerId="LiveId" clId="{38BF1695-285C-4F7B-912C-7C10D0494CBE}" dt="2025-11-11T03:20:22.854" v="233" actId="26606"/>
          <ac:picMkLst>
            <pc:docMk/>
            <pc:sldMk cId="1760480427" sldId="260"/>
            <ac:picMk id="7" creationId="{58AAE29F-35D7-C180-E0F3-DB233CECCE7A}"/>
          </ac:picMkLst>
        </pc:picChg>
        <pc:picChg chg="add">
          <ac:chgData name="Niko A7x" userId="20328c26abaa9d6f" providerId="LiveId" clId="{38BF1695-285C-4F7B-912C-7C10D0494CBE}" dt="2025-11-11T03:20:22.854" v="234" actId="26606"/>
          <ac:picMkLst>
            <pc:docMk/>
            <pc:sldMk cId="1760480427" sldId="260"/>
            <ac:picMk id="13" creationId="{745FE74A-3E94-569E-8030-557C5B32E918}"/>
          </ac:picMkLst>
        </pc:picChg>
      </pc:sldChg>
      <pc:sldChg chg="addSp modSp new mod">
        <pc:chgData name="Niko A7x" userId="20328c26abaa9d6f" providerId="LiveId" clId="{38BF1695-285C-4F7B-912C-7C10D0494CBE}" dt="2025-11-11T03:24:07.177" v="276" actId="255"/>
        <pc:sldMkLst>
          <pc:docMk/>
          <pc:sldMk cId="2653871553" sldId="261"/>
        </pc:sldMkLst>
        <pc:spChg chg="mod">
          <ac:chgData name="Niko A7x" userId="20328c26abaa9d6f" providerId="LiveId" clId="{38BF1695-285C-4F7B-912C-7C10D0494CBE}" dt="2025-11-11T03:21:58.878" v="240"/>
          <ac:spMkLst>
            <pc:docMk/>
            <pc:sldMk cId="2653871553" sldId="261"/>
            <ac:spMk id="2" creationId="{9DB50C04-A239-9B3F-9CDA-E2826B0E59D9}"/>
          </ac:spMkLst>
        </pc:spChg>
        <pc:spChg chg="mod">
          <ac:chgData name="Niko A7x" userId="20328c26abaa9d6f" providerId="LiveId" clId="{38BF1695-285C-4F7B-912C-7C10D0494CBE}" dt="2025-11-11T03:22:37.072" v="259" actId="27636"/>
          <ac:spMkLst>
            <pc:docMk/>
            <pc:sldMk cId="2653871553" sldId="261"/>
            <ac:spMk id="3" creationId="{4DA316D3-BC02-3B7D-83A3-4D28C2B9C155}"/>
          </ac:spMkLst>
        </pc:spChg>
        <pc:spChg chg="add mod">
          <ac:chgData name="Niko A7x" userId="20328c26abaa9d6f" providerId="LiveId" clId="{38BF1695-285C-4F7B-912C-7C10D0494CBE}" dt="2025-11-11T03:24:07.177" v="276" actId="255"/>
          <ac:spMkLst>
            <pc:docMk/>
            <pc:sldMk cId="2653871553" sldId="261"/>
            <ac:spMk id="4" creationId="{AED62CA3-B371-6A4A-039B-0797D0FC62C4}"/>
          </ac:spMkLst>
        </pc:spChg>
        <pc:picChg chg="add mod">
          <ac:chgData name="Niko A7x" userId="20328c26abaa9d6f" providerId="LiveId" clId="{38BF1695-285C-4F7B-912C-7C10D0494CBE}" dt="2025-11-11T03:23:45.862" v="274" actId="1076"/>
          <ac:picMkLst>
            <pc:docMk/>
            <pc:sldMk cId="2653871553" sldId="261"/>
            <ac:picMk id="6" creationId="{AFA4DDD3-41FB-1617-5A6D-E4BC3371C841}"/>
          </ac:picMkLst>
        </pc:picChg>
      </pc:sldChg>
      <pc:sldChg chg="addSp modSp new mod setBg">
        <pc:chgData name="Niko A7x" userId="20328c26abaa9d6f" providerId="LiveId" clId="{38BF1695-285C-4F7B-912C-7C10D0494CBE}" dt="2025-11-11T03:27:08.993" v="314" actId="27636"/>
        <pc:sldMkLst>
          <pc:docMk/>
          <pc:sldMk cId="2686816546" sldId="262"/>
        </pc:sldMkLst>
        <pc:spChg chg="mod">
          <ac:chgData name="Niko A7x" userId="20328c26abaa9d6f" providerId="LiveId" clId="{38BF1695-285C-4F7B-912C-7C10D0494CBE}" dt="2025-11-11T03:25:59.647" v="281" actId="26606"/>
          <ac:spMkLst>
            <pc:docMk/>
            <pc:sldMk cId="2686816546" sldId="262"/>
            <ac:spMk id="2" creationId="{D4FB5020-DA3F-2332-0BEF-5D1E5BC9769E}"/>
          </ac:spMkLst>
        </pc:spChg>
        <pc:spChg chg="mod">
          <ac:chgData name="Niko A7x" userId="20328c26abaa9d6f" providerId="LiveId" clId="{38BF1695-285C-4F7B-912C-7C10D0494CBE}" dt="2025-11-11T03:27:08.993" v="314" actId="27636"/>
          <ac:spMkLst>
            <pc:docMk/>
            <pc:sldMk cId="2686816546" sldId="262"/>
            <ac:spMk id="3" creationId="{CBA22860-0D0B-D3F9-5A99-06F8C371CE74}"/>
          </ac:spMkLst>
        </pc:spChg>
        <pc:spChg chg="add">
          <ac:chgData name="Niko A7x" userId="20328c26abaa9d6f" providerId="LiveId" clId="{38BF1695-285C-4F7B-912C-7C10D0494CBE}" dt="2025-11-11T03:25:59.647" v="281" actId="26606"/>
          <ac:spMkLst>
            <pc:docMk/>
            <pc:sldMk cId="2686816546" sldId="262"/>
            <ac:spMk id="10" creationId="{6ACA6F80-D392-A64E-3CF8-F28F1CCEE67B}"/>
          </ac:spMkLst>
        </pc:spChg>
        <pc:picChg chg="add mod">
          <ac:chgData name="Niko A7x" userId="20328c26abaa9d6f" providerId="LiveId" clId="{38BF1695-285C-4F7B-912C-7C10D0494CBE}" dt="2025-11-11T03:26:03.531" v="282" actId="1076"/>
          <ac:picMkLst>
            <pc:docMk/>
            <pc:sldMk cId="2686816546" sldId="262"/>
            <ac:picMk id="7" creationId="{369EEA88-61B2-5809-47A2-D692F5E00B1B}"/>
          </ac:picMkLst>
        </pc:picChg>
      </pc:sldChg>
      <pc:sldMasterChg chg="del delSldLayout">
        <pc:chgData name="Niko A7x" userId="20328c26abaa9d6f" providerId="LiveId" clId="{38BF1695-285C-4F7B-912C-7C10D0494CBE}" dt="2025-11-11T02:28:44.078" v="38" actId="26606"/>
        <pc:sldMasterMkLst>
          <pc:docMk/>
          <pc:sldMasterMk cId="1045429221" sldId="2147483648"/>
        </pc:sldMasterMkLst>
        <pc:sldLayoutChg chg="del">
          <pc:chgData name="Niko A7x" userId="20328c26abaa9d6f" providerId="LiveId" clId="{38BF1695-285C-4F7B-912C-7C10D0494CBE}" dt="2025-11-11T02:28:44.078" v="38" actId="26606"/>
          <pc:sldLayoutMkLst>
            <pc:docMk/>
            <pc:sldMasterMk cId="1045429221" sldId="2147483648"/>
            <pc:sldLayoutMk cId="3934747114" sldId="2147483649"/>
          </pc:sldLayoutMkLst>
        </pc:sldLayoutChg>
        <pc:sldLayoutChg chg="del">
          <pc:chgData name="Niko A7x" userId="20328c26abaa9d6f" providerId="LiveId" clId="{38BF1695-285C-4F7B-912C-7C10D0494CBE}" dt="2025-11-11T02:28:44.078" v="38" actId="26606"/>
          <pc:sldLayoutMkLst>
            <pc:docMk/>
            <pc:sldMasterMk cId="1045429221" sldId="2147483648"/>
            <pc:sldLayoutMk cId="3784623820" sldId="2147483650"/>
          </pc:sldLayoutMkLst>
        </pc:sldLayoutChg>
        <pc:sldLayoutChg chg="del">
          <pc:chgData name="Niko A7x" userId="20328c26abaa9d6f" providerId="LiveId" clId="{38BF1695-285C-4F7B-912C-7C10D0494CBE}" dt="2025-11-11T02:28:44.078" v="38" actId="26606"/>
          <pc:sldLayoutMkLst>
            <pc:docMk/>
            <pc:sldMasterMk cId="1045429221" sldId="2147483648"/>
            <pc:sldLayoutMk cId="2947777351" sldId="2147483651"/>
          </pc:sldLayoutMkLst>
        </pc:sldLayoutChg>
        <pc:sldLayoutChg chg="del">
          <pc:chgData name="Niko A7x" userId="20328c26abaa9d6f" providerId="LiveId" clId="{38BF1695-285C-4F7B-912C-7C10D0494CBE}" dt="2025-11-11T02:28:44.078" v="38" actId="26606"/>
          <pc:sldLayoutMkLst>
            <pc:docMk/>
            <pc:sldMasterMk cId="1045429221" sldId="2147483648"/>
            <pc:sldLayoutMk cId="1932092027" sldId="2147483652"/>
          </pc:sldLayoutMkLst>
        </pc:sldLayoutChg>
        <pc:sldLayoutChg chg="del">
          <pc:chgData name="Niko A7x" userId="20328c26abaa9d6f" providerId="LiveId" clId="{38BF1695-285C-4F7B-912C-7C10D0494CBE}" dt="2025-11-11T02:28:44.078" v="38" actId="26606"/>
          <pc:sldLayoutMkLst>
            <pc:docMk/>
            <pc:sldMasterMk cId="1045429221" sldId="2147483648"/>
            <pc:sldLayoutMk cId="2471265467" sldId="2147483653"/>
          </pc:sldLayoutMkLst>
        </pc:sldLayoutChg>
        <pc:sldLayoutChg chg="del">
          <pc:chgData name="Niko A7x" userId="20328c26abaa9d6f" providerId="LiveId" clId="{38BF1695-285C-4F7B-912C-7C10D0494CBE}" dt="2025-11-11T02:28:44.078" v="38" actId="26606"/>
          <pc:sldLayoutMkLst>
            <pc:docMk/>
            <pc:sldMasterMk cId="1045429221" sldId="2147483648"/>
            <pc:sldLayoutMk cId="3534863024" sldId="2147483654"/>
          </pc:sldLayoutMkLst>
        </pc:sldLayoutChg>
        <pc:sldLayoutChg chg="del">
          <pc:chgData name="Niko A7x" userId="20328c26abaa9d6f" providerId="LiveId" clId="{38BF1695-285C-4F7B-912C-7C10D0494CBE}" dt="2025-11-11T02:28:44.078" v="38" actId="26606"/>
          <pc:sldLayoutMkLst>
            <pc:docMk/>
            <pc:sldMasterMk cId="1045429221" sldId="2147483648"/>
            <pc:sldLayoutMk cId="468064280" sldId="2147483655"/>
          </pc:sldLayoutMkLst>
        </pc:sldLayoutChg>
        <pc:sldLayoutChg chg="del">
          <pc:chgData name="Niko A7x" userId="20328c26abaa9d6f" providerId="LiveId" clId="{38BF1695-285C-4F7B-912C-7C10D0494CBE}" dt="2025-11-11T02:28:44.078" v="38" actId="26606"/>
          <pc:sldLayoutMkLst>
            <pc:docMk/>
            <pc:sldMasterMk cId="1045429221" sldId="2147483648"/>
            <pc:sldLayoutMk cId="1492765142" sldId="2147483656"/>
          </pc:sldLayoutMkLst>
        </pc:sldLayoutChg>
        <pc:sldLayoutChg chg="del">
          <pc:chgData name="Niko A7x" userId="20328c26abaa9d6f" providerId="LiveId" clId="{38BF1695-285C-4F7B-912C-7C10D0494CBE}" dt="2025-11-11T02:28:44.078" v="38" actId="26606"/>
          <pc:sldLayoutMkLst>
            <pc:docMk/>
            <pc:sldMasterMk cId="1045429221" sldId="2147483648"/>
            <pc:sldLayoutMk cId="1355497829" sldId="2147483657"/>
          </pc:sldLayoutMkLst>
        </pc:sldLayoutChg>
        <pc:sldLayoutChg chg="del">
          <pc:chgData name="Niko A7x" userId="20328c26abaa9d6f" providerId="LiveId" clId="{38BF1695-285C-4F7B-912C-7C10D0494CBE}" dt="2025-11-11T02:28:44.078" v="38" actId="26606"/>
          <pc:sldLayoutMkLst>
            <pc:docMk/>
            <pc:sldMasterMk cId="1045429221" sldId="2147483648"/>
            <pc:sldLayoutMk cId="3721149523" sldId="2147483658"/>
          </pc:sldLayoutMkLst>
        </pc:sldLayoutChg>
        <pc:sldLayoutChg chg="del">
          <pc:chgData name="Niko A7x" userId="20328c26abaa9d6f" providerId="LiveId" clId="{38BF1695-285C-4F7B-912C-7C10D0494CBE}" dt="2025-11-11T02:28:44.078" v="38" actId="26606"/>
          <pc:sldLayoutMkLst>
            <pc:docMk/>
            <pc:sldMasterMk cId="1045429221" sldId="2147483648"/>
            <pc:sldLayoutMk cId="2674772102" sldId="2147483659"/>
          </pc:sldLayoutMkLst>
        </pc:sldLayoutChg>
      </pc:sldMasterChg>
      <pc:sldMasterChg chg="add addSldLayout">
        <pc:chgData name="Niko A7x" userId="20328c26abaa9d6f" providerId="LiveId" clId="{38BF1695-285C-4F7B-912C-7C10D0494CBE}" dt="2025-11-11T02:28:44.078" v="38" actId="26606"/>
        <pc:sldMasterMkLst>
          <pc:docMk/>
          <pc:sldMasterMk cId="4181185751" sldId="2147483673"/>
        </pc:sldMasterMkLst>
        <pc:sldLayoutChg chg="add">
          <pc:chgData name="Niko A7x" userId="20328c26abaa9d6f" providerId="LiveId" clId="{38BF1695-285C-4F7B-912C-7C10D0494CBE}" dt="2025-11-11T02:28:44.078" v="38" actId="26606"/>
          <pc:sldLayoutMkLst>
            <pc:docMk/>
            <pc:sldMasterMk cId="4181185751" sldId="2147483673"/>
            <pc:sldLayoutMk cId="2400973545" sldId="2147483662"/>
          </pc:sldLayoutMkLst>
        </pc:sldLayoutChg>
        <pc:sldLayoutChg chg="add">
          <pc:chgData name="Niko A7x" userId="20328c26abaa9d6f" providerId="LiveId" clId="{38BF1695-285C-4F7B-912C-7C10D0494CBE}" dt="2025-11-11T02:28:44.078" v="38" actId="26606"/>
          <pc:sldLayoutMkLst>
            <pc:docMk/>
            <pc:sldMasterMk cId="4181185751" sldId="2147483673"/>
            <pc:sldLayoutMk cId="216601900" sldId="2147483663"/>
          </pc:sldLayoutMkLst>
        </pc:sldLayoutChg>
        <pc:sldLayoutChg chg="add">
          <pc:chgData name="Niko A7x" userId="20328c26abaa9d6f" providerId="LiveId" clId="{38BF1695-285C-4F7B-912C-7C10D0494CBE}" dt="2025-11-11T02:28:44.078" v="38" actId="26606"/>
          <pc:sldLayoutMkLst>
            <pc:docMk/>
            <pc:sldMasterMk cId="4181185751" sldId="2147483673"/>
            <pc:sldLayoutMk cId="3067455911" sldId="2147483664"/>
          </pc:sldLayoutMkLst>
        </pc:sldLayoutChg>
        <pc:sldLayoutChg chg="add">
          <pc:chgData name="Niko A7x" userId="20328c26abaa9d6f" providerId="LiveId" clId="{38BF1695-285C-4F7B-912C-7C10D0494CBE}" dt="2025-11-11T02:28:44.078" v="38" actId="26606"/>
          <pc:sldLayoutMkLst>
            <pc:docMk/>
            <pc:sldMasterMk cId="4181185751" sldId="2147483673"/>
            <pc:sldLayoutMk cId="4029127294" sldId="2147483665"/>
          </pc:sldLayoutMkLst>
        </pc:sldLayoutChg>
        <pc:sldLayoutChg chg="add">
          <pc:chgData name="Niko A7x" userId="20328c26abaa9d6f" providerId="LiveId" clId="{38BF1695-285C-4F7B-912C-7C10D0494CBE}" dt="2025-11-11T02:28:44.078" v="38" actId="26606"/>
          <pc:sldLayoutMkLst>
            <pc:docMk/>
            <pc:sldMasterMk cId="4181185751" sldId="2147483673"/>
            <pc:sldLayoutMk cId="2435384861" sldId="2147483666"/>
          </pc:sldLayoutMkLst>
        </pc:sldLayoutChg>
        <pc:sldLayoutChg chg="add">
          <pc:chgData name="Niko A7x" userId="20328c26abaa9d6f" providerId="LiveId" clId="{38BF1695-285C-4F7B-912C-7C10D0494CBE}" dt="2025-11-11T02:28:44.078" v="38" actId="26606"/>
          <pc:sldLayoutMkLst>
            <pc:docMk/>
            <pc:sldMasterMk cId="4181185751" sldId="2147483673"/>
            <pc:sldLayoutMk cId="3263249550" sldId="2147483667"/>
          </pc:sldLayoutMkLst>
        </pc:sldLayoutChg>
        <pc:sldLayoutChg chg="add">
          <pc:chgData name="Niko A7x" userId="20328c26abaa9d6f" providerId="LiveId" clId="{38BF1695-285C-4F7B-912C-7C10D0494CBE}" dt="2025-11-11T02:28:44.078" v="38" actId="26606"/>
          <pc:sldLayoutMkLst>
            <pc:docMk/>
            <pc:sldMasterMk cId="4181185751" sldId="2147483673"/>
            <pc:sldLayoutMk cId="1775352387" sldId="2147483668"/>
          </pc:sldLayoutMkLst>
        </pc:sldLayoutChg>
        <pc:sldLayoutChg chg="add">
          <pc:chgData name="Niko A7x" userId="20328c26abaa9d6f" providerId="LiveId" clId="{38BF1695-285C-4F7B-912C-7C10D0494CBE}" dt="2025-11-11T02:28:44.078" v="38" actId="26606"/>
          <pc:sldLayoutMkLst>
            <pc:docMk/>
            <pc:sldMasterMk cId="4181185751" sldId="2147483673"/>
            <pc:sldLayoutMk cId="3630348187" sldId="2147483669"/>
          </pc:sldLayoutMkLst>
        </pc:sldLayoutChg>
        <pc:sldLayoutChg chg="add">
          <pc:chgData name="Niko A7x" userId="20328c26abaa9d6f" providerId="LiveId" clId="{38BF1695-285C-4F7B-912C-7C10D0494CBE}" dt="2025-11-11T02:28:44.078" v="38" actId="26606"/>
          <pc:sldLayoutMkLst>
            <pc:docMk/>
            <pc:sldMasterMk cId="4181185751" sldId="2147483673"/>
            <pc:sldLayoutMk cId="3140204511" sldId="2147483670"/>
          </pc:sldLayoutMkLst>
        </pc:sldLayoutChg>
        <pc:sldLayoutChg chg="add">
          <pc:chgData name="Niko A7x" userId="20328c26abaa9d6f" providerId="LiveId" clId="{38BF1695-285C-4F7B-912C-7C10D0494CBE}" dt="2025-11-11T02:28:44.078" v="38" actId="26606"/>
          <pc:sldLayoutMkLst>
            <pc:docMk/>
            <pc:sldMasterMk cId="4181185751" sldId="2147483673"/>
            <pc:sldLayoutMk cId="3469469076" sldId="2147483671"/>
          </pc:sldLayoutMkLst>
        </pc:sldLayoutChg>
        <pc:sldLayoutChg chg="add">
          <pc:chgData name="Niko A7x" userId="20328c26abaa9d6f" providerId="LiveId" clId="{38BF1695-285C-4F7B-912C-7C10D0494CBE}" dt="2025-11-11T02:28:44.078" v="38" actId="26606"/>
          <pc:sldLayoutMkLst>
            <pc:docMk/>
            <pc:sldMasterMk cId="4181185751" sldId="2147483673"/>
            <pc:sldLayoutMk cId="415293929" sldId="2147483672"/>
          </pc:sldLayoutMkLst>
        </pc:sldLayoutChg>
      </pc:sldMaster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6.svg"/></Relationships>
</file>

<file path=ppt/diagrams/_rels/drawing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0C2C3FA-A4E4-4046-A24E-815EF3A527EF}"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F70967AE-FE01-4263-A7D1-88E9A54EF79A}">
      <dgm:prSet/>
      <dgm:spPr/>
      <dgm:t>
        <a:bodyPr/>
        <a:lstStyle/>
        <a:p>
          <a:pPr>
            <a:lnSpc>
              <a:spcPct val="100000"/>
            </a:lnSpc>
          </a:pPr>
          <a:r>
            <a:rPr lang="es-ES" b="1" dirty="0"/>
            <a:t>Planteamiento:</a:t>
          </a:r>
          <a:br>
            <a:rPr lang="es-ES" dirty="0"/>
          </a:br>
          <a:r>
            <a:rPr lang="es-ES" dirty="0"/>
            <a:t>En biología, los genes y proteínas interactúan formando redes complejas.</a:t>
          </a:r>
          <a:br>
            <a:rPr lang="es-ES" dirty="0"/>
          </a:br>
          <a:r>
            <a:rPr lang="es-ES" dirty="0"/>
            <a:t>Identificar comunidades dentro de estas redes permite descubrir </a:t>
          </a:r>
          <a:r>
            <a:rPr lang="es-ES" b="1" dirty="0"/>
            <a:t>módulos funcionales</a:t>
          </a:r>
          <a:r>
            <a:rPr lang="es-ES" dirty="0"/>
            <a:t>, es decir, </a:t>
          </a:r>
          <a:r>
            <a:rPr lang="es-ES" b="1" dirty="0"/>
            <a:t>grupos de genes que cooperan en un mismo proceso.</a:t>
          </a:r>
          <a:br>
            <a:rPr lang="es-ES" b="1" dirty="0"/>
          </a:br>
          <a:r>
            <a:rPr lang="es-ES" dirty="0"/>
            <a:t>El problema es que estas relaciones no se pueden observar directamente por su gran número y complejidad.</a:t>
          </a:r>
          <a:endParaRPr lang="en-US" dirty="0"/>
        </a:p>
      </dgm:t>
    </dgm:pt>
    <dgm:pt modelId="{042E3898-34AD-4CC0-AD9C-D41B7100E6B9}" type="parTrans" cxnId="{B7160A78-A25B-446C-A1CF-A0CB173867A0}">
      <dgm:prSet/>
      <dgm:spPr/>
      <dgm:t>
        <a:bodyPr/>
        <a:lstStyle/>
        <a:p>
          <a:endParaRPr lang="en-US"/>
        </a:p>
      </dgm:t>
    </dgm:pt>
    <dgm:pt modelId="{F1F30ACE-10B9-4CD2-82FF-43C102E0CC3F}" type="sibTrans" cxnId="{B7160A78-A25B-446C-A1CF-A0CB173867A0}">
      <dgm:prSet/>
      <dgm:spPr/>
      <dgm:t>
        <a:bodyPr/>
        <a:lstStyle/>
        <a:p>
          <a:endParaRPr lang="en-US"/>
        </a:p>
      </dgm:t>
    </dgm:pt>
    <dgm:pt modelId="{5FD305C7-3E93-4F8B-88A7-1D6E314E20A5}">
      <dgm:prSet/>
      <dgm:spPr/>
      <dgm:t>
        <a:bodyPr/>
        <a:lstStyle/>
        <a:p>
          <a:pPr>
            <a:lnSpc>
              <a:spcPct val="100000"/>
            </a:lnSpc>
          </a:pPr>
          <a:r>
            <a:rPr lang="es-ES" b="1"/>
            <a:t>Solución:</a:t>
          </a:r>
          <a:br>
            <a:rPr lang="es-ES"/>
          </a:br>
          <a:r>
            <a:rPr lang="es-ES"/>
            <a:t>Aplicando algoritmos de detección de comunidades, se agrupan los genes según su nivel de conexión.</a:t>
          </a:r>
          <a:br>
            <a:rPr lang="es-ES"/>
          </a:br>
          <a:r>
            <a:rPr lang="es-ES"/>
            <a:t>Esto permite identificar funciones biológicas compartidas, predecir comportamientos y </a:t>
          </a:r>
          <a:r>
            <a:rPr lang="es-ES" b="1"/>
            <a:t>comprender mejor </a:t>
          </a:r>
          <a:r>
            <a:rPr lang="es-ES"/>
            <a:t>enfermedades o procesos celulares.</a:t>
          </a:r>
          <a:endParaRPr lang="en-US"/>
        </a:p>
      </dgm:t>
    </dgm:pt>
    <dgm:pt modelId="{90A464FC-6B32-4670-B346-1363DD510312}" type="parTrans" cxnId="{6B1E3EC2-0B44-4D0A-9FB1-958B51EF2607}">
      <dgm:prSet/>
      <dgm:spPr/>
      <dgm:t>
        <a:bodyPr/>
        <a:lstStyle/>
        <a:p>
          <a:endParaRPr lang="en-US"/>
        </a:p>
      </dgm:t>
    </dgm:pt>
    <dgm:pt modelId="{B69C63D5-9991-4E05-B85A-F8ADEB7FD8BF}" type="sibTrans" cxnId="{6B1E3EC2-0B44-4D0A-9FB1-958B51EF2607}">
      <dgm:prSet/>
      <dgm:spPr/>
      <dgm:t>
        <a:bodyPr/>
        <a:lstStyle/>
        <a:p>
          <a:endParaRPr lang="en-US"/>
        </a:p>
      </dgm:t>
    </dgm:pt>
    <dgm:pt modelId="{5E689685-3E47-489F-89EC-04E7B5C4B466}" type="pres">
      <dgm:prSet presAssocID="{A0C2C3FA-A4E4-4046-A24E-815EF3A527EF}" presName="root" presStyleCnt="0">
        <dgm:presLayoutVars>
          <dgm:dir/>
          <dgm:resizeHandles val="exact"/>
        </dgm:presLayoutVars>
      </dgm:prSet>
      <dgm:spPr/>
    </dgm:pt>
    <dgm:pt modelId="{4E2488CC-DC9F-465F-B606-4C773D244503}" type="pres">
      <dgm:prSet presAssocID="{F70967AE-FE01-4263-A7D1-88E9A54EF79A}" presName="compNode" presStyleCnt="0"/>
      <dgm:spPr/>
    </dgm:pt>
    <dgm:pt modelId="{02D7C16B-FD3E-4C43-A2F9-402914F3B62B}" type="pres">
      <dgm:prSet presAssocID="{F70967AE-FE01-4263-A7D1-88E9A54EF79A}" presName="bgRect" presStyleLbl="bgShp" presStyleIdx="0" presStyleCnt="2"/>
      <dgm:spPr/>
    </dgm:pt>
    <dgm:pt modelId="{714ECCC5-F730-4F4D-9AD3-8DA700F01DD2}" type="pres">
      <dgm:prSet presAssocID="{F70967AE-FE01-4263-A7D1-88E9A54EF79A}"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ADN"/>
        </a:ext>
      </dgm:extLst>
    </dgm:pt>
    <dgm:pt modelId="{939E1972-8E1B-4068-9B57-A2FE980F4878}" type="pres">
      <dgm:prSet presAssocID="{F70967AE-FE01-4263-A7D1-88E9A54EF79A}" presName="spaceRect" presStyleCnt="0"/>
      <dgm:spPr/>
    </dgm:pt>
    <dgm:pt modelId="{509AE850-AB0C-4A6C-A680-2D13955C2ECC}" type="pres">
      <dgm:prSet presAssocID="{F70967AE-FE01-4263-A7D1-88E9A54EF79A}" presName="parTx" presStyleLbl="revTx" presStyleIdx="0" presStyleCnt="2">
        <dgm:presLayoutVars>
          <dgm:chMax val="0"/>
          <dgm:chPref val="0"/>
        </dgm:presLayoutVars>
      </dgm:prSet>
      <dgm:spPr/>
    </dgm:pt>
    <dgm:pt modelId="{285DBBD9-1BF5-42F0-B1D3-EA4BE0E42901}" type="pres">
      <dgm:prSet presAssocID="{F1F30ACE-10B9-4CD2-82FF-43C102E0CC3F}" presName="sibTrans" presStyleCnt="0"/>
      <dgm:spPr/>
    </dgm:pt>
    <dgm:pt modelId="{342C4BA0-A89E-4248-8F5C-EB7BD4B65227}" type="pres">
      <dgm:prSet presAssocID="{5FD305C7-3E93-4F8B-88A7-1D6E314E20A5}" presName="compNode" presStyleCnt="0"/>
      <dgm:spPr/>
    </dgm:pt>
    <dgm:pt modelId="{C37704E4-6C55-4114-A2CB-5DC7692D7555}" type="pres">
      <dgm:prSet presAssocID="{5FD305C7-3E93-4F8B-88A7-1D6E314E20A5}" presName="bgRect" presStyleLbl="bgShp" presStyleIdx="1" presStyleCnt="2"/>
      <dgm:spPr/>
    </dgm:pt>
    <dgm:pt modelId="{50F64AA6-9E2E-4592-90C9-0467E4EE1B85}" type="pres">
      <dgm:prSet presAssocID="{5FD305C7-3E93-4F8B-88A7-1D6E314E20A5}"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Finger Print"/>
        </a:ext>
      </dgm:extLst>
    </dgm:pt>
    <dgm:pt modelId="{6F76BB68-EDCF-4735-8436-2CDFE9EC8029}" type="pres">
      <dgm:prSet presAssocID="{5FD305C7-3E93-4F8B-88A7-1D6E314E20A5}" presName="spaceRect" presStyleCnt="0"/>
      <dgm:spPr/>
    </dgm:pt>
    <dgm:pt modelId="{04D45274-4F40-4A7E-ADFE-83607727ECCB}" type="pres">
      <dgm:prSet presAssocID="{5FD305C7-3E93-4F8B-88A7-1D6E314E20A5}" presName="parTx" presStyleLbl="revTx" presStyleIdx="1" presStyleCnt="2">
        <dgm:presLayoutVars>
          <dgm:chMax val="0"/>
          <dgm:chPref val="0"/>
        </dgm:presLayoutVars>
      </dgm:prSet>
      <dgm:spPr/>
    </dgm:pt>
  </dgm:ptLst>
  <dgm:cxnLst>
    <dgm:cxn modelId="{76556B14-6C4E-44A0-AA48-728ACD9D13FE}" type="presOf" srcId="{A0C2C3FA-A4E4-4046-A24E-815EF3A527EF}" destId="{5E689685-3E47-489F-89EC-04E7B5C4B466}" srcOrd="0" destOrd="0" presId="urn:microsoft.com/office/officeart/2018/2/layout/IconVerticalSolidList"/>
    <dgm:cxn modelId="{FE095E3F-E44E-47D4-9433-11065817D3C7}" type="presOf" srcId="{F70967AE-FE01-4263-A7D1-88E9A54EF79A}" destId="{509AE850-AB0C-4A6C-A680-2D13955C2ECC}" srcOrd="0" destOrd="0" presId="urn:microsoft.com/office/officeart/2018/2/layout/IconVerticalSolidList"/>
    <dgm:cxn modelId="{7348D652-83ED-435E-A096-B4464A5C7115}" type="presOf" srcId="{5FD305C7-3E93-4F8B-88A7-1D6E314E20A5}" destId="{04D45274-4F40-4A7E-ADFE-83607727ECCB}" srcOrd="0" destOrd="0" presId="urn:microsoft.com/office/officeart/2018/2/layout/IconVerticalSolidList"/>
    <dgm:cxn modelId="{B7160A78-A25B-446C-A1CF-A0CB173867A0}" srcId="{A0C2C3FA-A4E4-4046-A24E-815EF3A527EF}" destId="{F70967AE-FE01-4263-A7D1-88E9A54EF79A}" srcOrd="0" destOrd="0" parTransId="{042E3898-34AD-4CC0-AD9C-D41B7100E6B9}" sibTransId="{F1F30ACE-10B9-4CD2-82FF-43C102E0CC3F}"/>
    <dgm:cxn modelId="{6B1E3EC2-0B44-4D0A-9FB1-958B51EF2607}" srcId="{A0C2C3FA-A4E4-4046-A24E-815EF3A527EF}" destId="{5FD305C7-3E93-4F8B-88A7-1D6E314E20A5}" srcOrd="1" destOrd="0" parTransId="{90A464FC-6B32-4670-B346-1363DD510312}" sibTransId="{B69C63D5-9991-4E05-B85A-F8ADEB7FD8BF}"/>
    <dgm:cxn modelId="{7800258A-29F7-422E-9F68-6E9C917B1C02}" type="presParOf" srcId="{5E689685-3E47-489F-89EC-04E7B5C4B466}" destId="{4E2488CC-DC9F-465F-B606-4C773D244503}" srcOrd="0" destOrd="0" presId="urn:microsoft.com/office/officeart/2018/2/layout/IconVerticalSolidList"/>
    <dgm:cxn modelId="{165AD436-2AFB-47C3-978A-F5B675874539}" type="presParOf" srcId="{4E2488CC-DC9F-465F-B606-4C773D244503}" destId="{02D7C16B-FD3E-4C43-A2F9-402914F3B62B}" srcOrd="0" destOrd="0" presId="urn:microsoft.com/office/officeart/2018/2/layout/IconVerticalSolidList"/>
    <dgm:cxn modelId="{DA55DEA5-1DED-4675-8478-552C7BA16E51}" type="presParOf" srcId="{4E2488CC-DC9F-465F-B606-4C773D244503}" destId="{714ECCC5-F730-4F4D-9AD3-8DA700F01DD2}" srcOrd="1" destOrd="0" presId="urn:microsoft.com/office/officeart/2018/2/layout/IconVerticalSolidList"/>
    <dgm:cxn modelId="{EC81188B-598F-4BE8-B002-5435264831A9}" type="presParOf" srcId="{4E2488CC-DC9F-465F-B606-4C773D244503}" destId="{939E1972-8E1B-4068-9B57-A2FE980F4878}" srcOrd="2" destOrd="0" presId="urn:microsoft.com/office/officeart/2018/2/layout/IconVerticalSolidList"/>
    <dgm:cxn modelId="{8906B4F6-511A-4B83-9D6E-A783A23F882F}" type="presParOf" srcId="{4E2488CC-DC9F-465F-B606-4C773D244503}" destId="{509AE850-AB0C-4A6C-A680-2D13955C2ECC}" srcOrd="3" destOrd="0" presId="urn:microsoft.com/office/officeart/2018/2/layout/IconVerticalSolidList"/>
    <dgm:cxn modelId="{62A7AA0A-89D7-443B-8F6C-503C2E265CEB}" type="presParOf" srcId="{5E689685-3E47-489F-89EC-04E7B5C4B466}" destId="{285DBBD9-1BF5-42F0-B1D3-EA4BE0E42901}" srcOrd="1" destOrd="0" presId="urn:microsoft.com/office/officeart/2018/2/layout/IconVerticalSolidList"/>
    <dgm:cxn modelId="{C996EF9E-133F-4B1B-A69C-27B73EC2D0F3}" type="presParOf" srcId="{5E689685-3E47-489F-89EC-04E7B5C4B466}" destId="{342C4BA0-A89E-4248-8F5C-EB7BD4B65227}" srcOrd="2" destOrd="0" presId="urn:microsoft.com/office/officeart/2018/2/layout/IconVerticalSolidList"/>
    <dgm:cxn modelId="{0E7F9CDB-FA4A-482B-ADCC-7DE189DACE26}" type="presParOf" srcId="{342C4BA0-A89E-4248-8F5C-EB7BD4B65227}" destId="{C37704E4-6C55-4114-A2CB-5DC7692D7555}" srcOrd="0" destOrd="0" presId="urn:microsoft.com/office/officeart/2018/2/layout/IconVerticalSolidList"/>
    <dgm:cxn modelId="{7AE1FE3F-EF0A-4786-A839-025B9247B9CB}" type="presParOf" srcId="{342C4BA0-A89E-4248-8F5C-EB7BD4B65227}" destId="{50F64AA6-9E2E-4592-90C9-0467E4EE1B85}" srcOrd="1" destOrd="0" presId="urn:microsoft.com/office/officeart/2018/2/layout/IconVerticalSolidList"/>
    <dgm:cxn modelId="{48AF33C4-2758-453F-9B2C-33884AB8DDA5}" type="presParOf" srcId="{342C4BA0-A89E-4248-8F5C-EB7BD4B65227}" destId="{6F76BB68-EDCF-4735-8436-2CDFE9EC8029}" srcOrd="2" destOrd="0" presId="urn:microsoft.com/office/officeart/2018/2/layout/IconVerticalSolidList"/>
    <dgm:cxn modelId="{D2413A3E-296E-44B5-A284-D45E2D159AF9}" type="presParOf" srcId="{342C4BA0-A89E-4248-8F5C-EB7BD4B65227}" destId="{04D45274-4F40-4A7E-ADFE-83607727ECCB}"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D7C16B-FD3E-4C43-A2F9-402914F3B62B}">
      <dsp:nvSpPr>
        <dsp:cNvPr id="0" name=""/>
        <dsp:cNvSpPr/>
      </dsp:nvSpPr>
      <dsp:spPr>
        <a:xfrm>
          <a:off x="0" y="56"/>
          <a:ext cx="5402662" cy="9226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14ECCC5-F730-4F4D-9AD3-8DA700F01DD2}">
      <dsp:nvSpPr>
        <dsp:cNvPr id="0" name=""/>
        <dsp:cNvSpPr/>
      </dsp:nvSpPr>
      <dsp:spPr>
        <a:xfrm>
          <a:off x="27909" y="20816"/>
          <a:ext cx="50745" cy="5074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09AE850-AB0C-4A6C-A680-2D13955C2ECC}">
      <dsp:nvSpPr>
        <dsp:cNvPr id="0" name=""/>
        <dsp:cNvSpPr/>
      </dsp:nvSpPr>
      <dsp:spPr>
        <a:xfrm>
          <a:off x="106565" y="56"/>
          <a:ext cx="4966373" cy="22143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4351" tIns="234351" rIns="234351" bIns="234351" numCol="1" spcCol="1270" anchor="ctr" anchorCtr="0">
          <a:noAutofit/>
        </a:bodyPr>
        <a:lstStyle/>
        <a:p>
          <a:pPr marL="0" lvl="0" indent="0" algn="l" defTabSz="622300">
            <a:lnSpc>
              <a:spcPct val="100000"/>
            </a:lnSpc>
            <a:spcBef>
              <a:spcPct val="0"/>
            </a:spcBef>
            <a:spcAft>
              <a:spcPct val="35000"/>
            </a:spcAft>
            <a:buNone/>
          </a:pPr>
          <a:r>
            <a:rPr lang="es-ES" sz="1400" b="1" kern="1200" dirty="0"/>
            <a:t>Planteamiento:</a:t>
          </a:r>
          <a:br>
            <a:rPr lang="es-ES" sz="1400" kern="1200" dirty="0"/>
          </a:br>
          <a:r>
            <a:rPr lang="es-ES" sz="1400" kern="1200" dirty="0"/>
            <a:t>En biología, los genes y proteínas interactúan formando redes complejas.</a:t>
          </a:r>
          <a:br>
            <a:rPr lang="es-ES" sz="1400" kern="1200" dirty="0"/>
          </a:br>
          <a:r>
            <a:rPr lang="es-ES" sz="1400" kern="1200" dirty="0"/>
            <a:t>Identificar comunidades dentro de estas redes permite descubrir </a:t>
          </a:r>
          <a:r>
            <a:rPr lang="es-ES" sz="1400" b="1" kern="1200" dirty="0"/>
            <a:t>módulos funcionales</a:t>
          </a:r>
          <a:r>
            <a:rPr lang="es-ES" sz="1400" kern="1200" dirty="0"/>
            <a:t>, es decir, </a:t>
          </a:r>
          <a:r>
            <a:rPr lang="es-ES" sz="1400" b="1" kern="1200" dirty="0"/>
            <a:t>grupos de genes que cooperan en un mismo proceso.</a:t>
          </a:r>
          <a:br>
            <a:rPr lang="es-ES" sz="1400" b="1" kern="1200" dirty="0"/>
          </a:br>
          <a:r>
            <a:rPr lang="es-ES" sz="1400" kern="1200" dirty="0"/>
            <a:t>El problema es que estas relaciones no se pueden observar directamente por su gran número y complejidad.</a:t>
          </a:r>
          <a:endParaRPr lang="en-US" sz="1400" kern="1200" dirty="0"/>
        </a:p>
      </dsp:txBody>
      <dsp:txXfrm>
        <a:off x="106565" y="56"/>
        <a:ext cx="4966373" cy="2214338"/>
      </dsp:txXfrm>
    </dsp:sp>
    <dsp:sp modelId="{C37704E4-6C55-4114-A2CB-5DC7692D7555}">
      <dsp:nvSpPr>
        <dsp:cNvPr id="0" name=""/>
        <dsp:cNvSpPr/>
      </dsp:nvSpPr>
      <dsp:spPr>
        <a:xfrm>
          <a:off x="0" y="2441507"/>
          <a:ext cx="5402662" cy="9226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0F64AA6-9E2E-4592-90C9-0467E4EE1B85}">
      <dsp:nvSpPr>
        <dsp:cNvPr id="0" name=""/>
        <dsp:cNvSpPr/>
      </dsp:nvSpPr>
      <dsp:spPr>
        <a:xfrm>
          <a:off x="27909" y="2462266"/>
          <a:ext cx="50745" cy="5074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4D45274-4F40-4A7E-ADFE-83607727ECCB}">
      <dsp:nvSpPr>
        <dsp:cNvPr id="0" name=""/>
        <dsp:cNvSpPr/>
      </dsp:nvSpPr>
      <dsp:spPr>
        <a:xfrm>
          <a:off x="106565" y="2441507"/>
          <a:ext cx="4966373" cy="22143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34351" tIns="234351" rIns="234351" bIns="234351" numCol="1" spcCol="1270" anchor="ctr" anchorCtr="0">
          <a:noAutofit/>
        </a:bodyPr>
        <a:lstStyle/>
        <a:p>
          <a:pPr marL="0" lvl="0" indent="0" algn="l" defTabSz="622300">
            <a:lnSpc>
              <a:spcPct val="100000"/>
            </a:lnSpc>
            <a:spcBef>
              <a:spcPct val="0"/>
            </a:spcBef>
            <a:spcAft>
              <a:spcPct val="35000"/>
            </a:spcAft>
            <a:buNone/>
          </a:pPr>
          <a:r>
            <a:rPr lang="es-ES" sz="1400" b="1" kern="1200"/>
            <a:t>Solución:</a:t>
          </a:r>
          <a:br>
            <a:rPr lang="es-ES" sz="1400" kern="1200"/>
          </a:br>
          <a:r>
            <a:rPr lang="es-ES" sz="1400" kern="1200"/>
            <a:t>Aplicando algoritmos de detección de comunidades, se agrupan los genes según su nivel de conexión.</a:t>
          </a:r>
          <a:br>
            <a:rPr lang="es-ES" sz="1400" kern="1200"/>
          </a:br>
          <a:r>
            <a:rPr lang="es-ES" sz="1400" kern="1200"/>
            <a:t>Esto permite identificar funciones biológicas compartidas, predecir comportamientos y </a:t>
          </a:r>
          <a:r>
            <a:rPr lang="es-ES" sz="1400" b="1" kern="1200"/>
            <a:t>comprender mejor </a:t>
          </a:r>
          <a:r>
            <a:rPr lang="es-ES" sz="1400" kern="1200"/>
            <a:t>enfermedades o procesos celulares.</a:t>
          </a:r>
          <a:endParaRPr lang="en-US" sz="1400" kern="1200"/>
        </a:p>
      </dsp:txBody>
      <dsp:txXfrm>
        <a:off x="106565" y="2441507"/>
        <a:ext cx="4966373" cy="2214338"/>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419"/>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7307B7-8700-43E7-9DDC-2462EF98A639}" type="datetimeFigureOut">
              <a:rPr lang="es-419" smtClean="0"/>
              <a:t>13/11/2025</a:t>
            </a:fld>
            <a:endParaRPr lang="es-419"/>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419"/>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419"/>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F6F5107-BE6D-4DEF-AC82-DAA967DB4001}" type="slidenum">
              <a:rPr lang="es-419" smtClean="0"/>
              <a:t>‹Nº›</a:t>
            </a:fld>
            <a:endParaRPr lang="es-419"/>
          </a:p>
        </p:txBody>
      </p:sp>
    </p:spTree>
    <p:extLst>
      <p:ext uri="{BB962C8B-B14F-4D97-AF65-F5344CB8AC3E}">
        <p14:creationId xmlns:p14="http://schemas.microsoft.com/office/powerpoint/2010/main" val="29425938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b="1" dirty="0"/>
              <a:t>Red inicial:</a:t>
            </a:r>
            <a:endParaRPr lang="es-ES" dirty="0"/>
          </a:p>
          <a:p>
            <a:r>
              <a:rPr lang="es-ES" dirty="0"/>
              <a:t>Cada nodo i se asigna a su propia comunidad</a:t>
            </a:r>
          </a:p>
          <a:p>
            <a:r>
              <a:rPr lang="es-ES" dirty="0"/>
              <a:t>Número inicial de comunidades = n (número de nodos</a:t>
            </a:r>
          </a:p>
          <a:p>
            <a:endParaRPr lang="es-ES" dirty="0"/>
          </a:p>
          <a:p>
            <a:r>
              <a:rPr lang="es-ES" dirty="0"/>
              <a:t>Entrar a </a:t>
            </a:r>
            <a:r>
              <a:rPr lang="es-ES" dirty="0" err="1"/>
              <a:t>loop</a:t>
            </a:r>
            <a:endParaRPr lang="es-ES" dirty="0"/>
          </a:p>
          <a:p>
            <a:endParaRPr lang="es-ES" dirty="0"/>
          </a:p>
          <a:p>
            <a:r>
              <a:rPr lang="es-ES" b="1" dirty="0"/>
              <a:t>Evaluar vecinos</a:t>
            </a:r>
            <a:r>
              <a:rPr lang="es-ES" dirty="0"/>
              <a:t>: Para cada vecino j de i, calcular la ganancia de modularidad ΔQ que resultaría de mover i a la comunidad de j</a:t>
            </a:r>
          </a:p>
          <a:p>
            <a:endParaRPr lang="es-ES" dirty="0"/>
          </a:p>
          <a:p>
            <a:r>
              <a:rPr lang="es-ES" dirty="0"/>
              <a:t>FIN : No hay mejora en la modularidad global después de aplicar ambas fases, O Se alcanza un número máximo de iteraciones (parámetro configurable)</a:t>
            </a:r>
            <a:endParaRPr lang="es-419" dirty="0"/>
          </a:p>
        </p:txBody>
      </p:sp>
      <p:sp>
        <p:nvSpPr>
          <p:cNvPr id="4" name="Marcador de número de diapositiva 3"/>
          <p:cNvSpPr>
            <a:spLocks noGrp="1"/>
          </p:cNvSpPr>
          <p:nvPr>
            <p:ph type="sldNum" sz="quarter" idx="5"/>
          </p:nvPr>
        </p:nvSpPr>
        <p:spPr/>
        <p:txBody>
          <a:bodyPr/>
          <a:lstStyle/>
          <a:p>
            <a:fld id="{0F6F5107-BE6D-4DEF-AC82-DAA967DB4001}" type="slidenum">
              <a:rPr lang="es-419" smtClean="0"/>
              <a:t>8</a:t>
            </a:fld>
            <a:endParaRPr lang="es-419"/>
          </a:p>
        </p:txBody>
      </p:sp>
    </p:spTree>
    <p:extLst>
      <p:ext uri="{BB962C8B-B14F-4D97-AF65-F5344CB8AC3E}">
        <p14:creationId xmlns:p14="http://schemas.microsoft.com/office/powerpoint/2010/main" val="16364924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419" dirty="0"/>
              <a:t>Al inicio cada nodo tiene etiqueta única</a:t>
            </a:r>
          </a:p>
          <a:p>
            <a:endParaRPr lang="es-419" dirty="0"/>
          </a:p>
          <a:p>
            <a:r>
              <a:rPr lang="es-419" dirty="0"/>
              <a:t>Fin</a:t>
            </a:r>
          </a:p>
          <a:p>
            <a:r>
              <a:rPr lang="es-ES" b="1" dirty="0"/>
              <a:t>Estabilidad</a:t>
            </a:r>
            <a:r>
              <a:rPr lang="es-ES" dirty="0"/>
              <a:t>: Ningún nodo cambia su etiqueta en una iteración completa, </a:t>
            </a:r>
          </a:p>
          <a:p>
            <a:r>
              <a:rPr lang="es-ES" b="1" dirty="0"/>
              <a:t>Máximo de iteraciones</a:t>
            </a:r>
            <a:r>
              <a:rPr lang="es-ES" dirty="0"/>
              <a:t>: Se alcanza un número máximo predefinido (típicamente 10-100 iteraciones),</a:t>
            </a:r>
            <a:endParaRPr lang="es-419" dirty="0"/>
          </a:p>
        </p:txBody>
      </p:sp>
      <p:sp>
        <p:nvSpPr>
          <p:cNvPr id="4" name="Marcador de número de diapositiva 3"/>
          <p:cNvSpPr>
            <a:spLocks noGrp="1"/>
          </p:cNvSpPr>
          <p:nvPr>
            <p:ph type="sldNum" sz="quarter" idx="5"/>
          </p:nvPr>
        </p:nvSpPr>
        <p:spPr/>
        <p:txBody>
          <a:bodyPr/>
          <a:lstStyle/>
          <a:p>
            <a:fld id="{0F6F5107-BE6D-4DEF-AC82-DAA967DB4001}" type="slidenum">
              <a:rPr lang="es-419" smtClean="0"/>
              <a:t>11</a:t>
            </a:fld>
            <a:endParaRPr lang="es-419"/>
          </a:p>
        </p:txBody>
      </p:sp>
    </p:spTree>
    <p:extLst>
      <p:ext uri="{BB962C8B-B14F-4D97-AF65-F5344CB8AC3E}">
        <p14:creationId xmlns:p14="http://schemas.microsoft.com/office/powerpoint/2010/main" val="31086545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a:lnSpc>
                <a:spcPct val="110000"/>
              </a:lnSpc>
            </a:pPr>
            <a:endParaRPr lang="es-ES" sz="1200" b="1" dirty="0"/>
          </a:p>
          <a:p>
            <a:r>
              <a:rPr lang="es-ES" sz="1200" dirty="0"/>
              <a:t>Los tres métodos estudiados representan </a:t>
            </a:r>
            <a:r>
              <a:rPr lang="es-ES" sz="1200" b="1" dirty="0"/>
              <a:t>diferentes aproximaciones </a:t>
            </a:r>
            <a:r>
              <a:rPr lang="es-ES" sz="1200" dirty="0"/>
              <a:t>al problema de detección de comunidades, cada uno con compromisos distintos entre eficiencia computacional y calidad de resultados.</a:t>
            </a:r>
          </a:p>
          <a:p>
            <a:r>
              <a:rPr lang="es-ES" sz="1200" b="1" dirty="0"/>
              <a:t>Fundamentos del </a:t>
            </a:r>
            <a:r>
              <a:rPr lang="es-ES" sz="1200" b="1" dirty="0" err="1"/>
              <a:t>Trade</a:t>
            </a:r>
            <a:r>
              <a:rPr lang="es-ES" sz="1200" b="1" dirty="0"/>
              <a:t>-off</a:t>
            </a:r>
          </a:p>
          <a:p>
            <a:r>
              <a:rPr lang="es-ES" sz="1200" dirty="0"/>
              <a:t>En el análisis de redes complejas, existe una </a:t>
            </a:r>
            <a:r>
              <a:rPr lang="es-ES" sz="1200" b="1" dirty="0"/>
              <a:t>tensión fundamental</a:t>
            </a:r>
            <a:r>
              <a:rPr lang="es-ES" sz="1200" dirty="0"/>
              <a:t> entre:</a:t>
            </a:r>
          </a:p>
          <a:p>
            <a:pPr marL="285750" indent="-285750">
              <a:buFont typeface="Arial" panose="020B0604020202020204" pitchFamily="34" charset="0"/>
              <a:buChar char="•"/>
            </a:pPr>
            <a:r>
              <a:rPr lang="es-ES" sz="1200" b="1" dirty="0"/>
              <a:t>Eficiencia computacional</a:t>
            </a:r>
            <a:r>
              <a:rPr lang="es-ES" sz="1200" dirty="0"/>
              <a:t>: Capacidad de procesar redes grandes en tiempo razonable</a:t>
            </a:r>
          </a:p>
          <a:p>
            <a:pPr marL="285750" indent="-285750">
              <a:buFont typeface="Arial" panose="020B0604020202020204" pitchFamily="34" charset="0"/>
              <a:buChar char="•"/>
            </a:pPr>
            <a:r>
              <a:rPr lang="es-ES" sz="1200" b="1" dirty="0"/>
              <a:t>Calidad de detección</a:t>
            </a:r>
            <a:r>
              <a:rPr lang="es-ES" sz="1200" dirty="0"/>
              <a:t>: Precisión en identificar la estructura comunitaria real</a:t>
            </a:r>
          </a:p>
          <a:p>
            <a:pPr marL="285750" indent="-285750">
              <a:buFont typeface="Arial" panose="020B0604020202020204" pitchFamily="34" charset="0"/>
              <a:buChar char="•"/>
            </a:pPr>
            <a:r>
              <a:rPr lang="es-ES" sz="1200" b="1" dirty="0"/>
              <a:t>Interpretabilidad</a:t>
            </a:r>
            <a:r>
              <a:rPr lang="es-ES" sz="1200" dirty="0"/>
              <a:t>: Facilidad para entender y explicar los resultados</a:t>
            </a:r>
          </a:p>
          <a:p>
            <a:r>
              <a:rPr lang="es-ES" sz="1200" dirty="0"/>
              <a:t>Ningún algoritmo puede maximizar simultáneamente estas tres dimensiones, lo que genera la necesidad de elegir según el contexto del análisis.</a:t>
            </a:r>
          </a:p>
          <a:p>
            <a:endParaRPr lang="es-419" dirty="0"/>
          </a:p>
        </p:txBody>
      </p:sp>
      <p:sp>
        <p:nvSpPr>
          <p:cNvPr id="4" name="Marcador de número de diapositiva 3"/>
          <p:cNvSpPr>
            <a:spLocks noGrp="1"/>
          </p:cNvSpPr>
          <p:nvPr>
            <p:ph type="sldNum" sz="quarter" idx="5"/>
          </p:nvPr>
        </p:nvSpPr>
        <p:spPr/>
        <p:txBody>
          <a:bodyPr/>
          <a:lstStyle/>
          <a:p>
            <a:fld id="{0F6F5107-BE6D-4DEF-AC82-DAA967DB4001}" type="slidenum">
              <a:rPr lang="es-419" smtClean="0"/>
              <a:t>16</a:t>
            </a:fld>
            <a:endParaRPr lang="es-419"/>
          </a:p>
        </p:txBody>
      </p:sp>
    </p:spTree>
    <p:extLst>
      <p:ext uri="{BB962C8B-B14F-4D97-AF65-F5344CB8AC3E}">
        <p14:creationId xmlns:p14="http://schemas.microsoft.com/office/powerpoint/2010/main" val="41909514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11/13/2025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17753523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11/13/2025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6303481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11/13/2025</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1402045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11/13/2025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4694690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11/13/2025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4152939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11/13/2025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24353848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11/13/2025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24009735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11/13/2025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2166019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11/13/2025</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0674559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11/13/2025</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40291272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11/13/2025</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‹Nº›</a:t>
            </a:fld>
            <a:endParaRPr lang="en-US"/>
          </a:p>
        </p:txBody>
      </p:sp>
    </p:spTree>
    <p:extLst>
      <p:ext uri="{BB962C8B-B14F-4D97-AF65-F5344CB8AC3E}">
        <p14:creationId xmlns:p14="http://schemas.microsoft.com/office/powerpoint/2010/main" val="32632495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11/13/2025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‹Nº›</a:t>
            </a:fld>
            <a:endParaRPr lang="en-US"/>
          </a:p>
        </p:txBody>
      </p:sp>
    </p:spTree>
    <p:extLst>
      <p:ext uri="{BB962C8B-B14F-4D97-AF65-F5344CB8AC3E}">
        <p14:creationId xmlns:p14="http://schemas.microsoft.com/office/powerpoint/2010/main" val="4181185751"/>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66" r:id="rId6"/>
    <p:sldLayoutId id="2147483662" r:id="rId7"/>
    <p:sldLayoutId id="2147483663" r:id="rId8"/>
    <p:sldLayoutId id="2147483664" r:id="rId9"/>
    <p:sldLayoutId id="2147483665" r:id="rId10"/>
    <p:sldLayoutId id="2147483667"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7.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6.svg"/></Relationships>
</file>

<file path=ppt/slides/_rels/slide17.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2CC1E4F-F1F0-B945-BE50-C72A7103E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38B3FCF9-22C2-FCF6-0488-6D7C750B3D21}"/>
              </a:ext>
            </a:extLst>
          </p:cNvPr>
          <p:cNvSpPr>
            <a:spLocks noGrp="1"/>
          </p:cNvSpPr>
          <p:nvPr>
            <p:ph type="ctrTitle"/>
          </p:nvPr>
        </p:nvSpPr>
        <p:spPr>
          <a:xfrm>
            <a:off x="7123007" y="603501"/>
            <a:ext cx="4361693" cy="1527049"/>
          </a:xfrm>
        </p:spPr>
        <p:txBody>
          <a:bodyPr vert="horz" lIns="91440" tIns="45720" rIns="91440" bIns="45720" rtlCol="0" anchor="b">
            <a:normAutofit/>
          </a:bodyPr>
          <a:lstStyle/>
          <a:p>
            <a:pPr algn="l"/>
            <a:r>
              <a:rPr lang="en-US" sz="3300" b="1" kern="1200" dirty="0">
                <a:solidFill>
                  <a:schemeClr val="tx1"/>
                </a:solidFill>
                <a:latin typeface="+mj-lt"/>
                <a:ea typeface="+mj-ea"/>
                <a:cs typeface="+mj-cs"/>
              </a:rPr>
              <a:t>Detección de Comunidades en Redes Complejas</a:t>
            </a:r>
          </a:p>
        </p:txBody>
      </p:sp>
      <p:pic>
        <p:nvPicPr>
          <p:cNvPr id="6" name="Picture 2" descr="Fondo abstracto">
            <a:extLst>
              <a:ext uri="{FF2B5EF4-FFF2-40B4-BE49-F238E27FC236}">
                <a16:creationId xmlns:a16="http://schemas.microsoft.com/office/drawing/2014/main" id="{C7BCA24D-F163-1FDB-E733-1BBDAB2A5A72}"/>
              </a:ext>
            </a:extLst>
          </p:cNvPr>
          <p:cNvPicPr>
            <a:picLocks noChangeAspect="1"/>
          </p:cNvPicPr>
          <p:nvPr/>
        </p:nvPicPr>
        <p:blipFill>
          <a:blip r:embed="rId2"/>
          <a:srcRect l="20718" r="17248" b="-1"/>
          <a:stretch>
            <a:fillRect/>
          </a:stretch>
        </p:blipFill>
        <p:spPr>
          <a:xfrm>
            <a:off x="1" y="10"/>
            <a:ext cx="6373368" cy="6857990"/>
          </a:xfrm>
          <a:prstGeom prst="rect">
            <a:avLst/>
          </a:prstGeom>
        </p:spPr>
      </p:pic>
      <p:sp>
        <p:nvSpPr>
          <p:cNvPr id="4" name="Rectangle 1">
            <a:extLst>
              <a:ext uri="{FF2B5EF4-FFF2-40B4-BE49-F238E27FC236}">
                <a16:creationId xmlns:a16="http://schemas.microsoft.com/office/drawing/2014/main" id="{6DD399A3-E2CD-C4A7-BC53-2D7C78BE879A}"/>
              </a:ext>
            </a:extLst>
          </p:cNvPr>
          <p:cNvSpPr>
            <a:spLocks noGrp="1" noChangeArrowheads="1"/>
          </p:cNvSpPr>
          <p:nvPr>
            <p:ph type="subTitle" idx="1"/>
          </p:nvPr>
        </p:nvSpPr>
        <p:spPr bwMode="auto">
          <a:xfrm>
            <a:off x="7123007" y="2212846"/>
            <a:ext cx="4361693" cy="4096514"/>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indent="-228600" algn="l" fontAlgn="base">
              <a:spcBef>
                <a:spcPct val="0"/>
              </a:spcBef>
              <a:spcAft>
                <a:spcPts val="600"/>
              </a:spcAft>
              <a:buFont typeface="Arial" panose="020B0604020202020204" pitchFamily="34" charset="0"/>
              <a:buChar char="•"/>
            </a:pPr>
            <a:r>
              <a:rPr kumimoji="0" lang="en-US" altLang="es-CL" b="0" i="0" u="none" strike="noStrike" cap="none" normalizeH="0" baseline="0" dirty="0">
                <a:ln>
                  <a:noFill/>
                </a:ln>
                <a:effectLst/>
              </a:rPr>
              <a:t>Universidad de Valparaíso – Escuela de Ingeniería </a:t>
            </a:r>
            <a:r>
              <a:rPr kumimoji="0" lang="en-US" altLang="es-CL" b="0" i="0" u="none" strike="noStrike" cap="none" normalizeH="0" baseline="0" dirty="0" err="1">
                <a:ln>
                  <a:noFill/>
                </a:ln>
                <a:effectLst/>
              </a:rPr>
              <a:t>Informática</a:t>
            </a:r>
            <a:endParaRPr kumimoji="0" lang="en-US" altLang="es-CL" b="0" i="0" u="none" strike="noStrike" cap="none" normalizeH="0" baseline="0" dirty="0">
              <a:ln>
                <a:noFill/>
              </a:ln>
              <a:effectLst/>
            </a:endParaRPr>
          </a:p>
          <a:p>
            <a:pPr marL="0" marR="0" lvl="0" indent="-228600" algn="l" fontAlgn="base">
              <a:spcBef>
                <a:spcPct val="0"/>
              </a:spcBef>
              <a:spcAft>
                <a:spcPts val="600"/>
              </a:spcAft>
              <a:buClrTx/>
              <a:buSzTx/>
              <a:buFont typeface="Arial" panose="020B0604020202020204" pitchFamily="34" charset="0"/>
              <a:buChar char="•"/>
              <a:tabLst/>
            </a:pPr>
            <a:r>
              <a:rPr kumimoji="0" lang="en-US" altLang="es-CL" b="0" i="0" u="none" strike="noStrike" cap="none" normalizeH="0" baseline="0" dirty="0" err="1">
                <a:ln>
                  <a:noFill/>
                </a:ln>
                <a:effectLst/>
              </a:rPr>
              <a:t>Asignatura</a:t>
            </a:r>
            <a:r>
              <a:rPr kumimoji="0" lang="en-US" altLang="es-CL" b="0" i="0" u="none" strike="noStrike" cap="none" normalizeH="0" baseline="0" dirty="0">
                <a:ln>
                  <a:noFill/>
                </a:ln>
                <a:effectLst/>
              </a:rPr>
              <a:t>: </a:t>
            </a:r>
            <a:r>
              <a:rPr lang="en-US" altLang="es-CL" dirty="0"/>
              <a:t>Base</a:t>
            </a:r>
            <a:r>
              <a:rPr kumimoji="0" lang="en-US" altLang="es-CL" b="0" i="0" u="none" strike="noStrike" cap="none" normalizeH="0" baseline="0" dirty="0">
                <a:ln>
                  <a:noFill/>
                </a:ln>
                <a:effectLst/>
              </a:rPr>
              <a:t> de Datos 3</a:t>
            </a:r>
          </a:p>
          <a:p>
            <a:pPr marL="0" marR="0" lvl="0" indent="-228600" algn="l" fontAlgn="base">
              <a:spcBef>
                <a:spcPct val="0"/>
              </a:spcBef>
              <a:spcAft>
                <a:spcPts val="600"/>
              </a:spcAft>
              <a:buClrTx/>
              <a:buSzTx/>
              <a:buFont typeface="Arial" panose="020B0604020202020204" pitchFamily="34" charset="0"/>
              <a:buChar char="•"/>
              <a:tabLst/>
            </a:pPr>
            <a:r>
              <a:rPr kumimoji="0" lang="en-US" altLang="es-CL" b="0" i="0" u="none" strike="noStrike" cap="none" normalizeH="0" baseline="0" dirty="0" err="1">
                <a:ln>
                  <a:noFill/>
                </a:ln>
                <a:effectLst/>
              </a:rPr>
              <a:t>Profesora</a:t>
            </a:r>
            <a:r>
              <a:rPr kumimoji="0" lang="en-US" altLang="es-CL" b="0" i="0" u="none" strike="noStrike" cap="none" normalizeH="0" baseline="0" dirty="0">
                <a:ln>
                  <a:noFill/>
                </a:ln>
                <a:effectLst/>
              </a:rPr>
              <a:t>: Ana Aguilera Faraco</a:t>
            </a:r>
          </a:p>
          <a:p>
            <a:pPr marL="0" marR="0" lvl="0" indent="-228600" algn="l" fontAlgn="base">
              <a:spcBef>
                <a:spcPct val="0"/>
              </a:spcBef>
              <a:spcAft>
                <a:spcPts val="600"/>
              </a:spcAft>
              <a:buClrTx/>
              <a:buSzTx/>
              <a:buFont typeface="Arial" panose="020B0604020202020204" pitchFamily="34" charset="0"/>
              <a:buChar char="•"/>
              <a:tabLst/>
            </a:pPr>
            <a:r>
              <a:rPr kumimoji="0" lang="en-US" altLang="es-CL" b="0" i="0" u="none" strike="noStrike" cap="none" normalizeH="0" baseline="0" dirty="0" err="1">
                <a:ln>
                  <a:noFill/>
                </a:ln>
                <a:effectLst/>
              </a:rPr>
              <a:t>Fecha</a:t>
            </a:r>
            <a:r>
              <a:rPr kumimoji="0" lang="en-US" altLang="es-CL" b="0" i="0" u="none" strike="noStrike" cap="none" normalizeH="0" baseline="0" dirty="0">
                <a:ln>
                  <a:noFill/>
                </a:ln>
                <a:effectLst/>
              </a:rPr>
              <a:t>: 12 de </a:t>
            </a:r>
            <a:r>
              <a:rPr kumimoji="0" lang="en-US" altLang="es-CL" b="0" i="0" u="none" strike="noStrike" cap="none" normalizeH="0" baseline="0" dirty="0" err="1">
                <a:ln>
                  <a:noFill/>
                </a:ln>
                <a:effectLst/>
              </a:rPr>
              <a:t>noviembre</a:t>
            </a:r>
            <a:r>
              <a:rPr kumimoji="0" lang="en-US" altLang="es-CL" b="0" i="0" u="none" strike="noStrike" cap="none" normalizeH="0" baseline="0" dirty="0">
                <a:ln>
                  <a:noFill/>
                </a:ln>
                <a:effectLst/>
              </a:rPr>
              <a:t> de 2025</a:t>
            </a:r>
          </a:p>
          <a:p>
            <a:pPr marL="0" marR="0" lvl="0" indent="-228600" algn="l" fontAlgn="base">
              <a:spcBef>
                <a:spcPct val="0"/>
              </a:spcBef>
              <a:spcAft>
                <a:spcPts val="600"/>
              </a:spcAft>
              <a:buClrTx/>
              <a:buSzTx/>
              <a:buFont typeface="Arial" panose="020B0604020202020204" pitchFamily="34" charset="0"/>
              <a:buChar char="•"/>
              <a:tabLst/>
            </a:pPr>
            <a:r>
              <a:rPr kumimoji="0" lang="en-US" altLang="es-CL" b="0" i="0" u="none" strike="noStrike" cap="none" normalizeH="0" baseline="0" dirty="0" err="1">
                <a:ln>
                  <a:noFill/>
                </a:ln>
                <a:effectLst/>
              </a:rPr>
              <a:t>Integrantes</a:t>
            </a:r>
            <a:r>
              <a:rPr kumimoji="0" lang="en-US" altLang="es-CL" b="0" i="0" u="none" strike="noStrike" cap="none" normalizeH="0" baseline="0" dirty="0">
                <a:ln>
                  <a:noFill/>
                </a:ln>
                <a:effectLst/>
              </a:rPr>
              <a:t>:</a:t>
            </a:r>
          </a:p>
          <a:p>
            <a:pPr marL="0" marR="0" lvl="0" indent="-228600" algn="l" fontAlgn="base">
              <a:spcBef>
                <a:spcPct val="0"/>
              </a:spcBef>
              <a:spcAft>
                <a:spcPts val="600"/>
              </a:spcAft>
              <a:buClrTx/>
              <a:buSzTx/>
              <a:buFont typeface="Arial" panose="020B0604020202020204" pitchFamily="34" charset="0"/>
              <a:buChar char="•"/>
              <a:tabLst/>
            </a:pPr>
            <a:r>
              <a:rPr kumimoji="0" lang="en-US" altLang="es-CL" b="0" i="0" u="none" strike="noStrike" cap="none" normalizeH="0" baseline="0" dirty="0">
                <a:ln>
                  <a:noFill/>
                </a:ln>
                <a:effectLst/>
              </a:rPr>
              <a:t>Nikolas Lagos </a:t>
            </a:r>
          </a:p>
          <a:p>
            <a:pPr marL="0" marR="0" lvl="0" indent="-228600" algn="l" fontAlgn="base">
              <a:spcBef>
                <a:spcPct val="0"/>
              </a:spcBef>
              <a:spcAft>
                <a:spcPts val="600"/>
              </a:spcAft>
              <a:buClrTx/>
              <a:buSzTx/>
              <a:buFont typeface="Arial" panose="020B0604020202020204" pitchFamily="34" charset="0"/>
              <a:buChar char="•"/>
              <a:tabLst/>
            </a:pPr>
            <a:r>
              <a:rPr kumimoji="0" lang="en-US" altLang="es-CL" b="0" i="0" u="none" strike="noStrike" cap="none" normalizeH="0" baseline="0" dirty="0">
                <a:ln>
                  <a:noFill/>
                </a:ln>
                <a:effectLst/>
              </a:rPr>
              <a:t>Franko Moraga </a:t>
            </a:r>
          </a:p>
          <a:p>
            <a:pPr marL="0" marR="0" lvl="0" indent="-228600" algn="l" fontAlgn="base">
              <a:spcBef>
                <a:spcPct val="0"/>
              </a:spcBef>
              <a:spcAft>
                <a:spcPts val="600"/>
              </a:spcAft>
              <a:buClrTx/>
              <a:buSzTx/>
              <a:buFont typeface="Arial" panose="020B0604020202020204" pitchFamily="34" charset="0"/>
              <a:buChar char="•"/>
              <a:tabLst/>
            </a:pPr>
            <a:r>
              <a:rPr kumimoji="0" lang="en-US" altLang="es-CL" b="0" i="0" u="none" strike="noStrike" cap="none" normalizeH="0" baseline="0" dirty="0">
                <a:ln>
                  <a:noFill/>
                </a:ln>
                <a:effectLst/>
              </a:rPr>
              <a:t>Miguel Espinoza</a:t>
            </a:r>
          </a:p>
          <a:p>
            <a:pPr lvl="0" indent="-228600" algn="l" fontAlgn="base">
              <a:spcBef>
                <a:spcPct val="0"/>
              </a:spcBef>
              <a:spcAft>
                <a:spcPts val="600"/>
              </a:spcAft>
              <a:buFont typeface="Arial" panose="020B0604020202020204" pitchFamily="34" charset="0"/>
              <a:buChar char="•"/>
            </a:pPr>
            <a:r>
              <a:rPr lang="en-US" altLang="es-CL" dirty="0"/>
              <a:t>Dante Chávez</a:t>
            </a:r>
            <a:endParaRPr kumimoji="0" lang="en-US" altLang="es-CL" b="0" i="0" u="none" strike="noStrike" cap="none" normalizeH="0" baseline="0" dirty="0">
              <a:ln>
                <a:noFill/>
              </a:ln>
              <a:effectLst/>
            </a:endParaRPr>
          </a:p>
        </p:txBody>
      </p:sp>
    </p:spTree>
    <p:extLst>
      <p:ext uri="{BB962C8B-B14F-4D97-AF65-F5344CB8AC3E}">
        <p14:creationId xmlns:p14="http://schemas.microsoft.com/office/powerpoint/2010/main" val="11627338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6ACA6F80-D392-A64E-3CF8-F28F1CCEE6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84E5D98E-45A8-9C04-9392-26DF52338716}"/>
              </a:ext>
            </a:extLst>
          </p:cNvPr>
          <p:cNvSpPr>
            <a:spLocks noGrp="1"/>
          </p:cNvSpPr>
          <p:nvPr>
            <p:ph type="title"/>
          </p:nvPr>
        </p:nvSpPr>
        <p:spPr>
          <a:xfrm>
            <a:off x="614679" y="548640"/>
            <a:ext cx="4779572" cy="2067705"/>
          </a:xfrm>
        </p:spPr>
        <p:txBody>
          <a:bodyPr anchor="t">
            <a:normAutofit/>
          </a:bodyPr>
          <a:lstStyle/>
          <a:p>
            <a:r>
              <a:rPr lang="es-CL" dirty="0"/>
              <a:t>Introducción</a:t>
            </a:r>
          </a:p>
        </p:txBody>
      </p:sp>
      <p:pic>
        <p:nvPicPr>
          <p:cNvPr id="5" name="Imagen 4" descr="Diagrama&#10;&#10;El contenido generado por IA puede ser incorrecto.">
            <a:extLst>
              <a:ext uri="{FF2B5EF4-FFF2-40B4-BE49-F238E27FC236}">
                <a16:creationId xmlns:a16="http://schemas.microsoft.com/office/drawing/2014/main" id="{AAE43D43-8C3A-945E-081F-623375C275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1520" y="3738793"/>
            <a:ext cx="4673754" cy="2570564"/>
          </a:xfrm>
          <a:prstGeom prst="rect">
            <a:avLst/>
          </a:prstGeom>
        </p:spPr>
      </p:pic>
      <p:sp>
        <p:nvSpPr>
          <p:cNvPr id="4" name="Rectangle 1">
            <a:extLst>
              <a:ext uri="{FF2B5EF4-FFF2-40B4-BE49-F238E27FC236}">
                <a16:creationId xmlns:a16="http://schemas.microsoft.com/office/drawing/2014/main" id="{4163AE12-FBB8-A78F-747F-14604E99ED8F}"/>
              </a:ext>
            </a:extLst>
          </p:cNvPr>
          <p:cNvSpPr>
            <a:spLocks noGrp="1" noChangeArrowheads="1"/>
          </p:cNvSpPr>
          <p:nvPr>
            <p:ph idx="1"/>
          </p:nvPr>
        </p:nvSpPr>
        <p:spPr bwMode="auto">
          <a:xfrm>
            <a:off x="6030551" y="548638"/>
            <a:ext cx="5546770" cy="5760721"/>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t" anchorCtr="0" compatLnSpc="1">
            <a:prstTxWarp prst="textNoShape">
              <a:avLst/>
            </a:prstTxWarp>
            <a:normAutofit/>
          </a:bodyPr>
          <a:lstStyle/>
          <a:p>
            <a:pPr marL="0" marR="0" lvl="0" indent="0" defTabSz="914400" rtl="0" eaLnBrk="0" fontAlgn="base" latinLnBrk="0" hangingPunct="0">
              <a:lnSpc>
                <a:spcPct val="110000"/>
              </a:lnSpc>
              <a:spcBef>
                <a:spcPct val="0"/>
              </a:spcBef>
              <a:spcAft>
                <a:spcPct val="0"/>
              </a:spcAft>
              <a:buClrTx/>
              <a:buSzTx/>
              <a:buFontTx/>
              <a:buChar char="•"/>
              <a:tabLst/>
            </a:pPr>
            <a:r>
              <a:rPr kumimoji="0" lang="es-CL" altLang="es-CL" sz="1100" b="0" i="0" u="none" strike="noStrike" cap="none" normalizeH="0" baseline="0">
                <a:ln>
                  <a:noFill/>
                </a:ln>
                <a:effectLst/>
                <a:latin typeface="Arial" panose="020B0604020202020204" pitchFamily="34" charset="0"/>
              </a:rPr>
              <a:t>Una </a:t>
            </a:r>
            <a:r>
              <a:rPr kumimoji="0" lang="es-CL" altLang="es-CL" sz="1100" b="1" i="0" u="none" strike="noStrike" cap="none" normalizeH="0" baseline="0">
                <a:ln>
                  <a:noFill/>
                </a:ln>
                <a:effectLst/>
                <a:latin typeface="Arial" panose="020B0604020202020204" pitchFamily="34" charset="0"/>
              </a:rPr>
              <a:t>red</a:t>
            </a:r>
            <a:r>
              <a:rPr kumimoji="0" lang="es-CL" altLang="es-CL" sz="1100" b="0" i="0" u="none" strike="noStrike" cap="none" normalizeH="0" baseline="0">
                <a:ln>
                  <a:noFill/>
                </a:ln>
                <a:effectLst/>
                <a:latin typeface="Arial" panose="020B0604020202020204" pitchFamily="34" charset="0"/>
              </a:rPr>
              <a:t> es un conjunto de elementos (llamados </a:t>
            </a:r>
            <a:r>
              <a:rPr kumimoji="0" lang="es-CL" altLang="es-CL" sz="1100" b="0" i="1" u="none" strike="noStrike" cap="none" normalizeH="0" baseline="0">
                <a:ln>
                  <a:noFill/>
                </a:ln>
                <a:effectLst/>
                <a:latin typeface="Arial" panose="020B0604020202020204" pitchFamily="34" charset="0"/>
              </a:rPr>
              <a:t>nodos</a:t>
            </a:r>
            <a:r>
              <a:rPr kumimoji="0" lang="es-CL" altLang="es-CL" sz="1100" b="0" i="0" u="none" strike="noStrike" cap="none" normalizeH="0" baseline="0">
                <a:ln>
                  <a:noFill/>
                </a:ln>
                <a:effectLst/>
                <a:latin typeface="Arial" panose="020B0604020202020204" pitchFamily="34" charset="0"/>
              </a:rPr>
              <a:t>) conectados entre sí mediante relaciones o enlaces.</a:t>
            </a:r>
          </a:p>
          <a:p>
            <a:pPr marL="0" marR="0" lvl="0" indent="0" defTabSz="914400" rtl="0" eaLnBrk="0" fontAlgn="base" latinLnBrk="0" hangingPunct="0">
              <a:lnSpc>
                <a:spcPct val="110000"/>
              </a:lnSpc>
              <a:spcBef>
                <a:spcPct val="0"/>
              </a:spcBef>
              <a:spcAft>
                <a:spcPct val="0"/>
              </a:spcAft>
              <a:buClrTx/>
              <a:buSzTx/>
              <a:buFontTx/>
              <a:buChar char="•"/>
              <a:tabLst/>
            </a:pPr>
            <a:endParaRPr lang="es-CL" altLang="es-CL" sz="1100">
              <a:latin typeface="Arial" panose="020B0604020202020204" pitchFamily="34" charset="0"/>
            </a:endParaRPr>
          </a:p>
          <a:p>
            <a:pPr>
              <a:lnSpc>
                <a:spcPct val="110000"/>
              </a:lnSpc>
            </a:pPr>
            <a:r>
              <a:rPr lang="es-ES" sz="1100" b="1"/>
              <a:t>Contexto:</a:t>
            </a:r>
          </a:p>
          <a:p>
            <a:pPr>
              <a:lnSpc>
                <a:spcPct val="110000"/>
              </a:lnSpc>
            </a:pPr>
            <a:r>
              <a:rPr lang="es-ES" sz="1100"/>
              <a:t>En ciencia de datos, estudiar redes permite </a:t>
            </a:r>
            <a:r>
              <a:rPr lang="es-ES" sz="1100" b="1"/>
              <a:t>entender la estructura oculta</a:t>
            </a:r>
            <a:r>
              <a:rPr lang="es-ES" sz="1100"/>
              <a:t> detrás de grandes volúmenes de información.</a:t>
            </a:r>
          </a:p>
          <a:p>
            <a:pPr>
              <a:lnSpc>
                <a:spcPct val="110000"/>
              </a:lnSpc>
            </a:pPr>
            <a:r>
              <a:rPr lang="es-ES" sz="1100"/>
              <a:t>Cada conexión revela una relación importante: colaboración, comunicación, influencia, etc.</a:t>
            </a:r>
          </a:p>
          <a:p>
            <a:pPr>
              <a:lnSpc>
                <a:spcPct val="110000"/>
              </a:lnSpc>
            </a:pPr>
            <a:r>
              <a:rPr lang="es-ES" sz="1100"/>
              <a:t>Las </a:t>
            </a:r>
            <a:r>
              <a:rPr lang="es-ES" sz="1100" b="1"/>
              <a:t>comunidades</a:t>
            </a:r>
            <a:r>
              <a:rPr lang="es-ES" sz="1100"/>
              <a:t> dentro de una red son grupos de nodos que están más conectados entre sí que con el resto.</a:t>
            </a:r>
          </a:p>
          <a:p>
            <a:pPr>
              <a:lnSpc>
                <a:spcPct val="110000"/>
              </a:lnSpc>
            </a:pPr>
            <a:r>
              <a:rPr lang="es-ES" sz="1100" b="1"/>
              <a:t>Motivación:</a:t>
            </a:r>
          </a:p>
          <a:p>
            <a:pPr>
              <a:lnSpc>
                <a:spcPct val="110000"/>
              </a:lnSpc>
            </a:pPr>
            <a:r>
              <a:rPr lang="es-ES" sz="1100"/>
              <a:t>Detectar comunidades permite:</a:t>
            </a:r>
          </a:p>
          <a:p>
            <a:pPr lvl="1">
              <a:lnSpc>
                <a:spcPct val="110000"/>
              </a:lnSpc>
            </a:pPr>
            <a:r>
              <a:rPr lang="es-ES" sz="1100"/>
              <a:t>Encontrar </a:t>
            </a:r>
            <a:r>
              <a:rPr lang="es-ES" sz="1100" b="1"/>
              <a:t>grupos naturales</a:t>
            </a:r>
            <a:r>
              <a:rPr lang="es-ES" sz="1100"/>
              <a:t> dentro de un sistema (por ejemplo, intereses comunes o temas relacionados).</a:t>
            </a:r>
          </a:p>
          <a:p>
            <a:pPr lvl="1">
              <a:lnSpc>
                <a:spcPct val="110000"/>
              </a:lnSpc>
            </a:pPr>
            <a:r>
              <a:rPr lang="es-ES" sz="1100"/>
              <a:t>Comprender cómo se organiza la información o los actores en una red.</a:t>
            </a:r>
          </a:p>
          <a:p>
            <a:pPr lvl="1">
              <a:lnSpc>
                <a:spcPct val="110000"/>
              </a:lnSpc>
            </a:pPr>
            <a:r>
              <a:rPr lang="es-ES" sz="1100"/>
              <a:t>Aplicar esto en áreas como biología, sociología o informática.</a:t>
            </a:r>
          </a:p>
          <a:p>
            <a:pPr>
              <a:lnSpc>
                <a:spcPct val="110000"/>
              </a:lnSpc>
            </a:pPr>
            <a:r>
              <a:rPr lang="es-ES" sz="1100" b="1"/>
              <a:t>Objetivos:</a:t>
            </a:r>
          </a:p>
          <a:p>
            <a:pPr>
              <a:lnSpc>
                <a:spcPct val="110000"/>
              </a:lnSpc>
            </a:pPr>
            <a:r>
              <a:rPr lang="es-ES" sz="1100"/>
              <a:t>Comprender el concepto de red y comunidad.</a:t>
            </a:r>
          </a:p>
          <a:p>
            <a:pPr>
              <a:lnSpc>
                <a:spcPct val="110000"/>
              </a:lnSpc>
            </a:pPr>
            <a:r>
              <a:rPr lang="es-ES" sz="1100"/>
              <a:t>Aplicar algoritmos que detectan comunidades en redes complejas.</a:t>
            </a:r>
          </a:p>
          <a:p>
            <a:pPr>
              <a:lnSpc>
                <a:spcPct val="110000"/>
              </a:lnSpc>
            </a:pPr>
            <a:r>
              <a:rPr lang="es-ES" sz="1100"/>
              <a:t>Evaluar la </a:t>
            </a:r>
            <a:r>
              <a:rPr lang="es-ES" sz="1100" b="1"/>
              <a:t>cohesión y estabilidad</a:t>
            </a:r>
            <a:r>
              <a:rPr lang="es-ES" sz="1100"/>
              <a:t> de esas comunidades para entender la estructura del sistema.</a:t>
            </a:r>
          </a:p>
          <a:p>
            <a:pPr lvl="1">
              <a:lnSpc>
                <a:spcPct val="110000"/>
              </a:lnSpc>
            </a:pPr>
            <a:endParaRPr lang="es-ES" sz="1100"/>
          </a:p>
          <a:p>
            <a:pPr marL="0" marR="0" lvl="0" indent="0" defTabSz="914400" rtl="0" eaLnBrk="0" fontAlgn="base" latinLnBrk="0" hangingPunct="0">
              <a:lnSpc>
                <a:spcPct val="110000"/>
              </a:lnSpc>
              <a:spcBef>
                <a:spcPct val="0"/>
              </a:spcBef>
              <a:spcAft>
                <a:spcPct val="0"/>
              </a:spcAft>
              <a:buClrTx/>
              <a:buSzTx/>
              <a:buFontTx/>
              <a:buChar char="•"/>
              <a:tabLst/>
            </a:pPr>
            <a:endParaRPr kumimoji="0" lang="es-CL" altLang="es-CL" sz="1100" b="0" i="0" u="none" strike="noStrike" cap="none" normalizeH="0" baseline="0">
              <a:ln>
                <a:noFill/>
              </a:ln>
              <a:effectLst/>
              <a:latin typeface="Arial" panose="020B0604020202020204" pitchFamily="34" charset="0"/>
            </a:endParaRPr>
          </a:p>
          <a:p>
            <a:pPr marL="0" marR="0" lvl="0" indent="0" defTabSz="914400" rtl="0" eaLnBrk="0" fontAlgn="base" latinLnBrk="0" hangingPunct="0">
              <a:lnSpc>
                <a:spcPct val="110000"/>
              </a:lnSpc>
              <a:spcBef>
                <a:spcPct val="0"/>
              </a:spcBef>
              <a:spcAft>
                <a:spcPct val="0"/>
              </a:spcAft>
              <a:buClrTx/>
              <a:buSzTx/>
              <a:buFontTx/>
              <a:buNone/>
              <a:tabLst/>
            </a:pPr>
            <a:endParaRPr kumimoji="0" lang="es-CL" altLang="es-CL" sz="1100" b="0" i="0" u="none" strike="noStrike" cap="none" normalizeH="0" baseline="0" dirty="0">
              <a:ln>
                <a:noFill/>
              </a:ln>
              <a:effectLst/>
              <a:latin typeface="Arial" panose="020B0604020202020204" pitchFamily="34" charset="0"/>
            </a:endParaRPr>
          </a:p>
        </p:txBody>
      </p:sp>
    </p:spTree>
    <p:extLst>
      <p:ext uri="{BB962C8B-B14F-4D97-AF65-F5344CB8AC3E}">
        <p14:creationId xmlns:p14="http://schemas.microsoft.com/office/powerpoint/2010/main" val="16714525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ACA6F80-D392-A64E-3CF8-F28F1CCEE6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34EA09C7-E3C1-6568-5E31-081B55229B8D}"/>
              </a:ext>
            </a:extLst>
          </p:cNvPr>
          <p:cNvSpPr>
            <a:spLocks noGrp="1"/>
          </p:cNvSpPr>
          <p:nvPr>
            <p:ph type="title"/>
          </p:nvPr>
        </p:nvSpPr>
        <p:spPr>
          <a:xfrm>
            <a:off x="71063" y="106681"/>
            <a:ext cx="10835641" cy="579120"/>
          </a:xfrm>
        </p:spPr>
        <p:txBody>
          <a:bodyPr anchor="t">
            <a:normAutofit fontScale="90000"/>
          </a:bodyPr>
          <a:lstStyle/>
          <a:p>
            <a:r>
              <a:rPr lang="es-CL" dirty="0"/>
              <a:t>Ejemplos, planteamiento y solución</a:t>
            </a:r>
          </a:p>
        </p:txBody>
      </p:sp>
      <p:graphicFrame>
        <p:nvGraphicFramePr>
          <p:cNvPr id="14" name="Marcador de contenido 2">
            <a:extLst>
              <a:ext uri="{FF2B5EF4-FFF2-40B4-BE49-F238E27FC236}">
                <a16:creationId xmlns:a16="http://schemas.microsoft.com/office/drawing/2014/main" id="{B4FFEE40-1002-8720-539D-154148D744EF}"/>
              </a:ext>
            </a:extLst>
          </p:cNvPr>
          <p:cNvGraphicFramePr>
            <a:graphicFrameLocks noGrp="1"/>
          </p:cNvGraphicFramePr>
          <p:nvPr>
            <p:ph idx="1"/>
            <p:extLst>
              <p:ext uri="{D42A27DB-BD31-4B8C-83A1-F6EECF244321}">
                <p14:modId xmlns:p14="http://schemas.microsoft.com/office/powerpoint/2010/main" val="1692308232"/>
              </p:ext>
            </p:extLst>
          </p:nvPr>
        </p:nvGraphicFramePr>
        <p:xfrm>
          <a:off x="693337" y="1589111"/>
          <a:ext cx="5402663" cy="46559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 name="Imagen 7">
            <a:extLst>
              <a:ext uri="{FF2B5EF4-FFF2-40B4-BE49-F238E27FC236}">
                <a16:creationId xmlns:a16="http://schemas.microsoft.com/office/drawing/2014/main" id="{BA5B6BBC-2690-64CD-F72F-D81BEA2C5D0C}"/>
              </a:ext>
            </a:extLst>
          </p:cNvPr>
          <p:cNvPicPr>
            <a:picLocks noChangeAspect="1"/>
          </p:cNvPicPr>
          <p:nvPr/>
        </p:nvPicPr>
        <p:blipFill>
          <a:blip r:embed="rId7"/>
          <a:stretch>
            <a:fillRect/>
          </a:stretch>
        </p:blipFill>
        <p:spPr>
          <a:xfrm>
            <a:off x="10491019" y="263993"/>
            <a:ext cx="1629918" cy="1629918"/>
          </a:xfrm>
          <a:prstGeom prst="rect">
            <a:avLst/>
          </a:prstGeom>
        </p:spPr>
      </p:pic>
      <p:sp>
        <p:nvSpPr>
          <p:cNvPr id="5" name="CuadroTexto 4">
            <a:extLst>
              <a:ext uri="{FF2B5EF4-FFF2-40B4-BE49-F238E27FC236}">
                <a16:creationId xmlns:a16="http://schemas.microsoft.com/office/drawing/2014/main" id="{1029986F-ED58-B5FE-5A8D-C0F6F74ECC05}"/>
              </a:ext>
            </a:extLst>
          </p:cNvPr>
          <p:cNvSpPr txBox="1"/>
          <p:nvPr/>
        </p:nvSpPr>
        <p:spPr>
          <a:xfrm>
            <a:off x="484822" y="1078952"/>
            <a:ext cx="6137910" cy="369332"/>
          </a:xfrm>
          <a:prstGeom prst="rect">
            <a:avLst/>
          </a:prstGeom>
          <a:noFill/>
        </p:spPr>
        <p:txBody>
          <a:bodyPr wrap="square">
            <a:spAutoFit/>
          </a:bodyPr>
          <a:lstStyle/>
          <a:p>
            <a:r>
              <a:rPr lang="es-CL" dirty="0"/>
              <a:t>Ejemplo:</a:t>
            </a:r>
            <a:endParaRPr lang="es-419" dirty="0"/>
          </a:p>
        </p:txBody>
      </p:sp>
    </p:spTree>
    <p:extLst>
      <p:ext uri="{BB962C8B-B14F-4D97-AF65-F5344CB8AC3E}">
        <p14:creationId xmlns:p14="http://schemas.microsoft.com/office/powerpoint/2010/main" val="42724295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5393EB9-A1EA-5958-AC40-2F351D3D93B2}"/>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0056F05-9E23-E899-A137-4756700E2C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165B7D93-5A56-7985-242C-940B7AB85D87}"/>
              </a:ext>
            </a:extLst>
          </p:cNvPr>
          <p:cNvSpPr>
            <a:spLocks noGrp="1"/>
          </p:cNvSpPr>
          <p:nvPr>
            <p:ph type="title"/>
          </p:nvPr>
        </p:nvSpPr>
        <p:spPr>
          <a:xfrm>
            <a:off x="350359" y="263993"/>
            <a:ext cx="10835641" cy="579120"/>
          </a:xfrm>
        </p:spPr>
        <p:txBody>
          <a:bodyPr anchor="t">
            <a:normAutofit fontScale="90000"/>
          </a:bodyPr>
          <a:lstStyle/>
          <a:p>
            <a:r>
              <a:rPr lang="es-CL" dirty="0"/>
              <a:t>Ejemplos, planteamiento y solución</a:t>
            </a:r>
          </a:p>
        </p:txBody>
      </p:sp>
      <p:sp>
        <p:nvSpPr>
          <p:cNvPr id="6" name="CuadroTexto 5">
            <a:extLst>
              <a:ext uri="{FF2B5EF4-FFF2-40B4-BE49-F238E27FC236}">
                <a16:creationId xmlns:a16="http://schemas.microsoft.com/office/drawing/2014/main" id="{CB7ACAC2-6B1A-8DCB-FAAD-A4B2FA7BB525}"/>
              </a:ext>
            </a:extLst>
          </p:cNvPr>
          <p:cNvSpPr txBox="1"/>
          <p:nvPr/>
        </p:nvSpPr>
        <p:spPr>
          <a:xfrm>
            <a:off x="459661" y="1658756"/>
            <a:ext cx="5975152" cy="3816429"/>
          </a:xfrm>
          <a:prstGeom prst="rect">
            <a:avLst/>
          </a:prstGeom>
          <a:noFill/>
        </p:spPr>
        <p:txBody>
          <a:bodyPr wrap="square" rtlCol="0">
            <a:spAutoFit/>
          </a:bodyPr>
          <a:lstStyle/>
          <a:p>
            <a:r>
              <a:rPr lang="es-ES" sz="1600" b="1" dirty="0"/>
              <a:t>Planteamiento:</a:t>
            </a:r>
            <a:br>
              <a:rPr lang="es-ES" sz="1600" dirty="0"/>
            </a:br>
            <a:r>
              <a:rPr lang="es-ES" sz="1600" dirty="0"/>
              <a:t>En una red de información como Wikipedia, cada nodo representa un artículo y los enlaces muestran referencias entre temas.</a:t>
            </a:r>
            <a:br>
              <a:rPr lang="es-ES" sz="1600" dirty="0"/>
            </a:br>
            <a:r>
              <a:rPr lang="es-ES" sz="1600" dirty="0"/>
              <a:t>El desafío es </a:t>
            </a:r>
            <a:r>
              <a:rPr lang="es-ES" sz="1600" b="1" dirty="0"/>
              <a:t>entender cómo se agrupan los contenidos</a:t>
            </a:r>
            <a:r>
              <a:rPr lang="es-ES" sz="1600" dirty="0"/>
              <a:t> y cómo ciertos artículos conectan áreas distintas del conocimiento.</a:t>
            </a:r>
          </a:p>
          <a:p>
            <a:endParaRPr lang="es-ES" sz="1600" dirty="0"/>
          </a:p>
          <a:p>
            <a:r>
              <a:rPr lang="es-ES" sz="1600" b="1" dirty="0"/>
              <a:t>Solución:</a:t>
            </a:r>
            <a:br>
              <a:rPr lang="es-ES" sz="1600" dirty="0"/>
            </a:br>
            <a:r>
              <a:rPr lang="es-ES" sz="1600" dirty="0"/>
              <a:t>Usando técnicas de detección de comunidades, se identifican grupos de artículos relacionados (por ejemplo, ciencia, historia o arte).</a:t>
            </a:r>
            <a:br>
              <a:rPr lang="es-ES" sz="1600" dirty="0"/>
            </a:br>
            <a:r>
              <a:rPr lang="es-ES" sz="1600" dirty="0"/>
              <a:t>Esto permite visualizar la </a:t>
            </a:r>
            <a:r>
              <a:rPr lang="es-ES" sz="1600" b="1" dirty="0"/>
              <a:t>estructura temática</a:t>
            </a:r>
            <a:r>
              <a:rPr lang="es-ES" sz="1600" dirty="0"/>
              <a:t> de la enciclopedia y entender cómo se organiza el conocimiento.</a:t>
            </a:r>
          </a:p>
          <a:p>
            <a:endParaRPr lang="es-CL" dirty="0"/>
          </a:p>
        </p:txBody>
      </p:sp>
      <p:pic>
        <p:nvPicPr>
          <p:cNvPr id="8" name="Imagen 7">
            <a:extLst>
              <a:ext uri="{FF2B5EF4-FFF2-40B4-BE49-F238E27FC236}">
                <a16:creationId xmlns:a16="http://schemas.microsoft.com/office/drawing/2014/main" id="{6975E1F2-FDC1-8783-FD02-EF41145E6215}"/>
              </a:ext>
            </a:extLst>
          </p:cNvPr>
          <p:cNvPicPr>
            <a:picLocks noChangeAspect="1"/>
          </p:cNvPicPr>
          <p:nvPr/>
        </p:nvPicPr>
        <p:blipFill>
          <a:blip r:embed="rId2"/>
          <a:stretch>
            <a:fillRect/>
          </a:stretch>
        </p:blipFill>
        <p:spPr>
          <a:xfrm>
            <a:off x="10491019" y="263993"/>
            <a:ext cx="1629918" cy="1629918"/>
          </a:xfrm>
          <a:prstGeom prst="rect">
            <a:avLst/>
          </a:prstGeom>
        </p:spPr>
      </p:pic>
      <p:sp>
        <p:nvSpPr>
          <p:cNvPr id="9" name="CuadroTexto 8">
            <a:extLst>
              <a:ext uri="{FF2B5EF4-FFF2-40B4-BE49-F238E27FC236}">
                <a16:creationId xmlns:a16="http://schemas.microsoft.com/office/drawing/2014/main" id="{BD6A6147-DEC5-086F-544F-B2086D262C6E}"/>
              </a:ext>
            </a:extLst>
          </p:cNvPr>
          <p:cNvSpPr txBox="1"/>
          <p:nvPr/>
        </p:nvSpPr>
        <p:spPr>
          <a:xfrm>
            <a:off x="398642" y="1165188"/>
            <a:ext cx="6097190" cy="369332"/>
          </a:xfrm>
          <a:prstGeom prst="rect">
            <a:avLst/>
          </a:prstGeom>
          <a:noFill/>
        </p:spPr>
        <p:txBody>
          <a:bodyPr wrap="square">
            <a:spAutoFit/>
          </a:bodyPr>
          <a:lstStyle/>
          <a:p>
            <a:r>
              <a:rPr lang="es-ES" sz="1800" b="1" dirty="0"/>
              <a:t>En nuestro caso:</a:t>
            </a:r>
            <a:endParaRPr lang="es-419" b="1" dirty="0"/>
          </a:p>
        </p:txBody>
      </p:sp>
      <p:pic>
        <p:nvPicPr>
          <p:cNvPr id="1026" name="Picture 2">
            <a:extLst>
              <a:ext uri="{FF2B5EF4-FFF2-40B4-BE49-F238E27FC236}">
                <a16:creationId xmlns:a16="http://schemas.microsoft.com/office/drawing/2014/main" id="{5360E6BA-4749-CE5B-6947-8272350E37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35919" y="1534520"/>
            <a:ext cx="3238661" cy="37345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84742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960C8CE6-8508-3176-75CC-B6BD7FEDD08E}"/>
              </a:ext>
            </a:extLst>
          </p:cNvPr>
          <p:cNvPicPr>
            <a:picLocks noChangeAspect="1"/>
          </p:cNvPicPr>
          <p:nvPr/>
        </p:nvPicPr>
        <p:blipFill>
          <a:blip r:embed="rId2"/>
          <a:stretch>
            <a:fillRect/>
          </a:stretch>
        </p:blipFill>
        <p:spPr>
          <a:xfrm>
            <a:off x="0" y="1733638"/>
            <a:ext cx="12192000" cy="3390723"/>
          </a:xfrm>
          <a:prstGeom prst="rect">
            <a:avLst/>
          </a:prstGeom>
        </p:spPr>
      </p:pic>
      <p:sp>
        <p:nvSpPr>
          <p:cNvPr id="9" name="Elipse 8">
            <a:extLst>
              <a:ext uri="{FF2B5EF4-FFF2-40B4-BE49-F238E27FC236}">
                <a16:creationId xmlns:a16="http://schemas.microsoft.com/office/drawing/2014/main" id="{CD8CC767-AED9-0581-2BDE-F269ED24C6AB}"/>
              </a:ext>
            </a:extLst>
          </p:cNvPr>
          <p:cNvSpPr/>
          <p:nvPr/>
        </p:nvSpPr>
        <p:spPr>
          <a:xfrm>
            <a:off x="1502569" y="2871787"/>
            <a:ext cx="1640681" cy="885825"/>
          </a:xfrm>
          <a:prstGeom prst="ellipse">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cxnSp>
        <p:nvCxnSpPr>
          <p:cNvPr id="11" name="Conector recto de flecha 10">
            <a:extLst>
              <a:ext uri="{FF2B5EF4-FFF2-40B4-BE49-F238E27FC236}">
                <a16:creationId xmlns:a16="http://schemas.microsoft.com/office/drawing/2014/main" id="{9734891A-EF53-D715-2B4C-ACF3B3AD64E9}"/>
              </a:ext>
            </a:extLst>
          </p:cNvPr>
          <p:cNvCxnSpPr/>
          <p:nvPr/>
        </p:nvCxnSpPr>
        <p:spPr>
          <a:xfrm flipV="1">
            <a:off x="878681" y="1042988"/>
            <a:ext cx="928688" cy="821531"/>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Conector recto de flecha 12">
            <a:extLst>
              <a:ext uri="{FF2B5EF4-FFF2-40B4-BE49-F238E27FC236}">
                <a16:creationId xmlns:a16="http://schemas.microsoft.com/office/drawing/2014/main" id="{4D68CF6F-FE71-3999-8825-CC1DB85F576D}"/>
              </a:ext>
            </a:extLst>
          </p:cNvPr>
          <p:cNvCxnSpPr>
            <a:cxnSpLocks/>
          </p:cNvCxnSpPr>
          <p:nvPr/>
        </p:nvCxnSpPr>
        <p:spPr>
          <a:xfrm flipV="1">
            <a:off x="3143250" y="2678906"/>
            <a:ext cx="1557338" cy="414338"/>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CuadroTexto 16">
            <a:extLst>
              <a:ext uri="{FF2B5EF4-FFF2-40B4-BE49-F238E27FC236}">
                <a16:creationId xmlns:a16="http://schemas.microsoft.com/office/drawing/2014/main" id="{C2AB9E45-937B-B0A6-950C-C15CEC5A515E}"/>
              </a:ext>
            </a:extLst>
          </p:cNvPr>
          <p:cNvSpPr txBox="1"/>
          <p:nvPr/>
        </p:nvSpPr>
        <p:spPr>
          <a:xfrm>
            <a:off x="1502569" y="673656"/>
            <a:ext cx="899605" cy="369332"/>
          </a:xfrm>
          <a:prstGeom prst="rect">
            <a:avLst/>
          </a:prstGeom>
          <a:noFill/>
        </p:spPr>
        <p:txBody>
          <a:bodyPr wrap="none" rtlCol="0">
            <a:spAutoFit/>
          </a:bodyPr>
          <a:lstStyle/>
          <a:p>
            <a:r>
              <a:rPr lang="es-419" b="1" dirty="0"/>
              <a:t>NODO</a:t>
            </a:r>
          </a:p>
        </p:txBody>
      </p:sp>
      <p:sp>
        <p:nvSpPr>
          <p:cNvPr id="18" name="CuadroTexto 17">
            <a:extLst>
              <a:ext uri="{FF2B5EF4-FFF2-40B4-BE49-F238E27FC236}">
                <a16:creationId xmlns:a16="http://schemas.microsoft.com/office/drawing/2014/main" id="{886F117B-FF17-A841-0175-08256CB90615}"/>
              </a:ext>
            </a:extLst>
          </p:cNvPr>
          <p:cNvSpPr txBox="1"/>
          <p:nvPr/>
        </p:nvSpPr>
        <p:spPr>
          <a:xfrm>
            <a:off x="4786312" y="2443163"/>
            <a:ext cx="2807179" cy="369332"/>
          </a:xfrm>
          <a:prstGeom prst="rect">
            <a:avLst/>
          </a:prstGeom>
          <a:noFill/>
        </p:spPr>
        <p:txBody>
          <a:bodyPr wrap="none" rtlCol="0">
            <a:spAutoFit/>
          </a:bodyPr>
          <a:lstStyle/>
          <a:p>
            <a:r>
              <a:rPr lang="es-419" b="1" dirty="0"/>
              <a:t>Hipervínculo, otro nodo</a:t>
            </a:r>
          </a:p>
        </p:txBody>
      </p:sp>
    </p:spTree>
    <p:extLst>
      <p:ext uri="{BB962C8B-B14F-4D97-AF65-F5344CB8AC3E}">
        <p14:creationId xmlns:p14="http://schemas.microsoft.com/office/powerpoint/2010/main" val="566200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948D23A-A65F-5095-4407-AF40F68646DA}"/>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DFFAC2D-4C80-4B53-41CD-6F3B86FEC8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F4A9BCE1-E800-E32F-51CA-049DDDA319F7}"/>
              </a:ext>
            </a:extLst>
          </p:cNvPr>
          <p:cNvSpPr>
            <a:spLocks noGrp="1"/>
          </p:cNvSpPr>
          <p:nvPr>
            <p:ph type="title"/>
          </p:nvPr>
        </p:nvSpPr>
        <p:spPr>
          <a:xfrm>
            <a:off x="614678" y="322499"/>
            <a:ext cx="5105401" cy="873760"/>
          </a:xfrm>
        </p:spPr>
        <p:txBody>
          <a:bodyPr anchor="t">
            <a:normAutofit/>
          </a:bodyPr>
          <a:lstStyle/>
          <a:p>
            <a:r>
              <a:rPr lang="es-CL" dirty="0"/>
              <a:t>Modelos y algoritmos</a:t>
            </a:r>
          </a:p>
        </p:txBody>
      </p:sp>
      <p:sp>
        <p:nvSpPr>
          <p:cNvPr id="3" name="Marcador de contenido 2">
            <a:extLst>
              <a:ext uri="{FF2B5EF4-FFF2-40B4-BE49-F238E27FC236}">
                <a16:creationId xmlns:a16="http://schemas.microsoft.com/office/drawing/2014/main" id="{D828688F-5F28-B67F-8AE8-F922EDE4ED03}"/>
              </a:ext>
            </a:extLst>
          </p:cNvPr>
          <p:cNvSpPr>
            <a:spLocks noGrp="1"/>
          </p:cNvSpPr>
          <p:nvPr>
            <p:ph idx="1"/>
          </p:nvPr>
        </p:nvSpPr>
        <p:spPr>
          <a:xfrm>
            <a:off x="325117" y="1117599"/>
            <a:ext cx="5684522" cy="1961374"/>
          </a:xfrm>
        </p:spPr>
        <p:txBody>
          <a:bodyPr anchor="t">
            <a:normAutofit lnSpcReduction="10000"/>
          </a:bodyPr>
          <a:lstStyle/>
          <a:p>
            <a:pPr>
              <a:lnSpc>
                <a:spcPct val="110000"/>
              </a:lnSpc>
            </a:pPr>
            <a:r>
              <a:rPr lang="es-ES" sz="1100" b="1" dirty="0"/>
              <a:t>1. </a:t>
            </a:r>
            <a:r>
              <a:rPr lang="es-ES" sz="1100" b="1" dirty="0" err="1"/>
              <a:t>Louvain</a:t>
            </a:r>
            <a:r>
              <a:rPr lang="es-ES" sz="1100" b="1" dirty="0"/>
              <a:t> (optimización de modularidad)</a:t>
            </a:r>
          </a:p>
          <a:p>
            <a:r>
              <a:rPr lang="es-ES" sz="1100" dirty="0"/>
              <a:t>El Método de </a:t>
            </a:r>
            <a:r>
              <a:rPr lang="es-ES" sz="1100" dirty="0" err="1"/>
              <a:t>Louvain</a:t>
            </a:r>
            <a:r>
              <a:rPr lang="es-ES" sz="1100" dirty="0"/>
              <a:t> es un algoritmo </a:t>
            </a:r>
            <a:r>
              <a:rPr lang="es-ES" sz="1100" b="1" dirty="0"/>
              <a:t>heurístico</a:t>
            </a:r>
            <a:r>
              <a:rPr lang="es-ES" sz="1100" dirty="0"/>
              <a:t> y </a:t>
            </a:r>
            <a:r>
              <a:rPr lang="es-ES" sz="1100" b="1" dirty="0" err="1"/>
              <a:t>greedy</a:t>
            </a:r>
            <a:r>
              <a:rPr lang="es-ES" sz="1100" dirty="0"/>
              <a:t> diseñado para detectar comunidades en redes grandes mediante la optimización de la modularidad. Fue desarrollado por Blondel et al. en 2008 en la Universidad Católica de Lovaina, Bélgica. Es especialmente valorado por su eficiencia computacional y capacidad para procesar redes con millones de nodos.</a:t>
            </a:r>
          </a:p>
          <a:p>
            <a:pPr>
              <a:lnSpc>
                <a:spcPct val="110000"/>
              </a:lnSpc>
            </a:pPr>
            <a:r>
              <a:rPr lang="es-ES" sz="1100" dirty="0"/>
              <a:t>Se basa en la </a:t>
            </a:r>
            <a:r>
              <a:rPr lang="es-ES" sz="1100" b="1" dirty="0"/>
              <a:t>maximización de la modularidad Q</a:t>
            </a:r>
            <a:r>
              <a:rPr lang="es-ES" sz="1100" dirty="0"/>
              <a:t>, una medida que cuantifica la calidad de una partición de la red en comunidades:</a:t>
            </a:r>
            <a:br>
              <a:rPr lang="es-ES" sz="1100" dirty="0"/>
            </a:br>
            <a:endParaRPr lang="es-ES" sz="1100" dirty="0"/>
          </a:p>
        </p:txBody>
      </p:sp>
      <p:sp>
        <p:nvSpPr>
          <p:cNvPr id="12" name="CuadroTexto 11">
            <a:extLst>
              <a:ext uri="{FF2B5EF4-FFF2-40B4-BE49-F238E27FC236}">
                <a16:creationId xmlns:a16="http://schemas.microsoft.com/office/drawing/2014/main" id="{BF8DC16F-AB9A-1237-81E4-C310FB2FE61F}"/>
              </a:ext>
            </a:extLst>
          </p:cNvPr>
          <p:cNvSpPr txBox="1"/>
          <p:nvPr/>
        </p:nvSpPr>
        <p:spPr>
          <a:xfrm>
            <a:off x="6136423" y="3574581"/>
            <a:ext cx="6055577" cy="2308324"/>
          </a:xfrm>
          <a:prstGeom prst="rect">
            <a:avLst/>
          </a:prstGeom>
          <a:noFill/>
        </p:spPr>
        <p:txBody>
          <a:bodyPr wrap="square">
            <a:spAutoFit/>
          </a:bodyPr>
          <a:lstStyle/>
          <a:p>
            <a:pPr>
              <a:buNone/>
            </a:pPr>
            <a:r>
              <a:rPr lang="es-ES" sz="1200" b="1" dirty="0"/>
              <a:t>Rango de la Modularidad</a:t>
            </a:r>
          </a:p>
          <a:p>
            <a:pPr>
              <a:buNone/>
            </a:pPr>
            <a:r>
              <a:rPr lang="es-ES" sz="1200" b="1" dirty="0"/>
              <a:t>Q ∈ [-0.5, 1]</a:t>
            </a:r>
            <a:endParaRPr lang="es-ES" sz="1200" dirty="0"/>
          </a:p>
          <a:p>
            <a:pPr>
              <a:buNone/>
            </a:pPr>
            <a:r>
              <a:rPr lang="es-ES" sz="1200" b="1" dirty="0"/>
              <a:t>Interpretación:</a:t>
            </a:r>
          </a:p>
          <a:p>
            <a:pPr>
              <a:buFont typeface="Arial" panose="020B0604020202020204" pitchFamily="34" charset="0"/>
              <a:buChar char="•"/>
            </a:pPr>
            <a:r>
              <a:rPr lang="es-ES" sz="1200" b="1" dirty="0"/>
              <a:t>Q &gt; 0</a:t>
            </a:r>
            <a:r>
              <a:rPr lang="es-ES" sz="1200" dirty="0"/>
              <a:t>: Existe estructura comunitaria. Hay más conexiones dentro de las comunidades de lo esperado por azar.</a:t>
            </a:r>
          </a:p>
          <a:p>
            <a:pPr>
              <a:buFont typeface="Arial" panose="020B0604020202020204" pitchFamily="34" charset="0"/>
              <a:buChar char="•"/>
            </a:pPr>
            <a:r>
              <a:rPr lang="es-ES" sz="1200" b="1" dirty="0"/>
              <a:t>Q ≈ 0</a:t>
            </a:r>
            <a:r>
              <a:rPr lang="es-ES" sz="1200" dirty="0"/>
              <a:t>: No hay estructura comunitaria significativa. Las conexiones son aleatorias.</a:t>
            </a:r>
          </a:p>
          <a:p>
            <a:pPr>
              <a:buFont typeface="Arial" panose="020B0604020202020204" pitchFamily="34" charset="0"/>
              <a:buChar char="•"/>
            </a:pPr>
            <a:r>
              <a:rPr lang="es-ES" sz="1200" b="1" dirty="0"/>
              <a:t>Q &lt; 0</a:t>
            </a:r>
            <a:r>
              <a:rPr lang="es-ES" sz="1200" dirty="0"/>
              <a:t>: Hay menos conexiones dentro de las comunidades de lo esperado por azar (</a:t>
            </a:r>
            <a:r>
              <a:rPr lang="es-ES" sz="1200" dirty="0" err="1"/>
              <a:t>anti-comunidades</a:t>
            </a:r>
            <a:r>
              <a:rPr lang="es-ES" sz="1200" dirty="0"/>
              <a:t>). Esto es raro en redes reales.</a:t>
            </a:r>
          </a:p>
          <a:p>
            <a:pPr>
              <a:buNone/>
            </a:pPr>
            <a:r>
              <a:rPr lang="es-ES" sz="1200" b="1" dirty="0"/>
              <a:t>Valores típicos en la práctica:</a:t>
            </a:r>
          </a:p>
          <a:p>
            <a:pPr>
              <a:buFont typeface="Arial" panose="020B0604020202020204" pitchFamily="34" charset="0"/>
              <a:buChar char="•"/>
            </a:pPr>
            <a:r>
              <a:rPr lang="es-ES" sz="1200" b="1" dirty="0"/>
              <a:t>Q entre 0.3 y 0.7</a:t>
            </a:r>
            <a:r>
              <a:rPr lang="es-ES" sz="1200" dirty="0"/>
              <a:t>: Estructura comunitaria significativa (común en redes reales)</a:t>
            </a:r>
          </a:p>
          <a:p>
            <a:pPr>
              <a:buFont typeface="Arial" panose="020B0604020202020204" pitchFamily="34" charset="0"/>
              <a:buChar char="•"/>
            </a:pPr>
            <a:r>
              <a:rPr lang="es-ES" sz="1200" b="1" dirty="0"/>
              <a:t>Q &gt; 0.7</a:t>
            </a:r>
            <a:r>
              <a:rPr lang="es-ES" sz="1200" dirty="0"/>
              <a:t>: Estructura comunitaria muy fuerte</a:t>
            </a:r>
          </a:p>
          <a:p>
            <a:pPr>
              <a:buFont typeface="Arial" panose="020B0604020202020204" pitchFamily="34" charset="0"/>
              <a:buChar char="•"/>
            </a:pPr>
            <a:r>
              <a:rPr lang="es-ES" sz="1200" b="1" dirty="0"/>
              <a:t>Q &lt; 0.3</a:t>
            </a:r>
            <a:r>
              <a:rPr lang="es-ES" sz="1200" dirty="0"/>
              <a:t>: Estructura comunitaria débil o ausente</a:t>
            </a:r>
          </a:p>
        </p:txBody>
      </p:sp>
      <p:pic>
        <p:nvPicPr>
          <p:cNvPr id="16" name="Gráfico 15">
            <a:extLst>
              <a:ext uri="{FF2B5EF4-FFF2-40B4-BE49-F238E27FC236}">
                <a16:creationId xmlns:a16="http://schemas.microsoft.com/office/drawing/2014/main" id="{2A04987A-04F3-4EAB-ADC8-BB3F8780CFF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619969" y="3165006"/>
            <a:ext cx="1952625" cy="409575"/>
          </a:xfrm>
          <a:prstGeom prst="rect">
            <a:avLst/>
          </a:prstGeom>
        </p:spPr>
      </p:pic>
      <p:pic>
        <p:nvPicPr>
          <p:cNvPr id="18" name="Imagen 17">
            <a:extLst>
              <a:ext uri="{FF2B5EF4-FFF2-40B4-BE49-F238E27FC236}">
                <a16:creationId xmlns:a16="http://schemas.microsoft.com/office/drawing/2014/main" id="{614CF35A-102B-E73C-1829-6C42BA22536A}"/>
              </a:ext>
            </a:extLst>
          </p:cNvPr>
          <p:cNvPicPr>
            <a:picLocks noChangeAspect="1"/>
          </p:cNvPicPr>
          <p:nvPr/>
        </p:nvPicPr>
        <p:blipFill>
          <a:blip r:embed="rId4"/>
          <a:stretch>
            <a:fillRect/>
          </a:stretch>
        </p:blipFill>
        <p:spPr>
          <a:xfrm>
            <a:off x="6182363" y="901576"/>
            <a:ext cx="4972994" cy="2393420"/>
          </a:xfrm>
          <a:prstGeom prst="rect">
            <a:avLst/>
          </a:prstGeom>
        </p:spPr>
      </p:pic>
      <p:pic>
        <p:nvPicPr>
          <p:cNvPr id="20" name="Imagen 19">
            <a:extLst>
              <a:ext uri="{FF2B5EF4-FFF2-40B4-BE49-F238E27FC236}">
                <a16:creationId xmlns:a16="http://schemas.microsoft.com/office/drawing/2014/main" id="{2FABF32F-D9C1-407D-79FD-0DFFC0AA0878}"/>
              </a:ext>
            </a:extLst>
          </p:cNvPr>
          <p:cNvPicPr>
            <a:picLocks noChangeAspect="1"/>
          </p:cNvPicPr>
          <p:nvPr/>
        </p:nvPicPr>
        <p:blipFill>
          <a:blip r:embed="rId5"/>
          <a:stretch>
            <a:fillRect/>
          </a:stretch>
        </p:blipFill>
        <p:spPr>
          <a:xfrm>
            <a:off x="589366" y="3017122"/>
            <a:ext cx="3991752" cy="3692994"/>
          </a:xfrm>
          <a:prstGeom prst="rect">
            <a:avLst/>
          </a:prstGeom>
        </p:spPr>
      </p:pic>
    </p:spTree>
    <p:extLst>
      <p:ext uri="{BB962C8B-B14F-4D97-AF65-F5344CB8AC3E}">
        <p14:creationId xmlns:p14="http://schemas.microsoft.com/office/powerpoint/2010/main" val="20770036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B6495D94-85CB-191D-AA4A-20B254D40D52}"/>
              </a:ext>
            </a:extLst>
          </p:cNvPr>
          <p:cNvSpPr>
            <a:spLocks noGrp="1"/>
          </p:cNvSpPr>
          <p:nvPr>
            <p:ph idx="1"/>
          </p:nvPr>
        </p:nvSpPr>
        <p:spPr>
          <a:xfrm>
            <a:off x="421873" y="643250"/>
            <a:ext cx="10653579" cy="4593828"/>
          </a:xfrm>
        </p:spPr>
        <p:txBody>
          <a:bodyPr/>
          <a:lstStyle/>
          <a:p>
            <a:r>
              <a:rPr lang="es-ES" b="1" dirty="0"/>
              <a:t>Supuestos del Modelo </a:t>
            </a:r>
            <a:r>
              <a:rPr lang="es-ES" b="1" dirty="0" err="1"/>
              <a:t>Louvain</a:t>
            </a:r>
            <a:endParaRPr lang="es-ES" b="1" dirty="0"/>
          </a:p>
          <a:p>
            <a:r>
              <a:rPr lang="es-ES" b="1" dirty="0"/>
              <a:t>Red no dirigida</a:t>
            </a:r>
            <a:r>
              <a:rPr lang="es-ES" dirty="0"/>
              <a:t>: el algoritmo original trabaja con grafos no dirigidos (aunque existen extensiones para grafos dirigidos)</a:t>
            </a:r>
          </a:p>
          <a:p>
            <a:r>
              <a:rPr lang="es-ES" b="1" dirty="0"/>
              <a:t>Modularidad como métrica óptima</a:t>
            </a:r>
            <a:r>
              <a:rPr lang="es-ES" dirty="0"/>
              <a:t>: asume que una alta modularidad refleja una buena división en comunidades</a:t>
            </a:r>
          </a:p>
          <a:p>
            <a:r>
              <a:rPr lang="es-ES" b="1" dirty="0"/>
              <a:t>Estructura comunitaria jerárquica</a:t>
            </a:r>
            <a:r>
              <a:rPr lang="es-ES" dirty="0"/>
              <a:t>: presupone que las redes tienen organización a múltiples escalas</a:t>
            </a:r>
          </a:p>
          <a:p>
            <a:r>
              <a:rPr lang="es-ES" b="1" dirty="0"/>
              <a:t>Conexiones locales significativas</a:t>
            </a:r>
            <a:r>
              <a:rPr lang="es-ES" dirty="0"/>
              <a:t>: los nodos tienden a formar grupos densamente conectados</a:t>
            </a:r>
          </a:p>
          <a:p>
            <a:endParaRPr lang="es-419" dirty="0"/>
          </a:p>
        </p:txBody>
      </p:sp>
    </p:spTree>
    <p:extLst>
      <p:ext uri="{BB962C8B-B14F-4D97-AF65-F5344CB8AC3E}">
        <p14:creationId xmlns:p14="http://schemas.microsoft.com/office/powerpoint/2010/main" val="25842779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descr="Diagrama&#10;&#10;El contenido generado por IA puede ser incorrecto.">
            <a:extLst>
              <a:ext uri="{FF2B5EF4-FFF2-40B4-BE49-F238E27FC236}">
                <a16:creationId xmlns:a16="http://schemas.microsoft.com/office/drawing/2014/main" id="{A71DD61D-EEC3-9C1D-01A7-215A5604AB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6660" y="0"/>
            <a:ext cx="7598679" cy="3118110"/>
          </a:xfrm>
          <a:prstGeom prst="rect">
            <a:avLst/>
          </a:prstGeom>
        </p:spPr>
      </p:pic>
      <p:pic>
        <p:nvPicPr>
          <p:cNvPr id="2050" name="Picture 2">
            <a:extLst>
              <a:ext uri="{FF2B5EF4-FFF2-40B4-BE49-F238E27FC236}">
                <a16:creationId xmlns:a16="http://schemas.microsoft.com/office/drawing/2014/main" id="{C71561DB-79D7-C5AE-41AE-E4DBAFE2E9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32185" y="3200208"/>
            <a:ext cx="5727627" cy="3600223"/>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Conector: curvado 10">
            <a:extLst>
              <a:ext uri="{FF2B5EF4-FFF2-40B4-BE49-F238E27FC236}">
                <a16:creationId xmlns:a16="http://schemas.microsoft.com/office/drawing/2014/main" id="{DC73F1D2-A4DA-C232-91E3-F8F09775E0DD}"/>
              </a:ext>
            </a:extLst>
          </p:cNvPr>
          <p:cNvCxnSpPr>
            <a:stCxn id="2050" idx="1"/>
            <a:endCxn id="9" idx="1"/>
          </p:cNvCxnSpPr>
          <p:nvPr/>
        </p:nvCxnSpPr>
        <p:spPr>
          <a:xfrm rot="10800000">
            <a:off x="2296661" y="1559056"/>
            <a:ext cx="935525" cy="3441265"/>
          </a:xfrm>
          <a:prstGeom prst="curvedConnector3">
            <a:avLst>
              <a:gd name="adj1" fmla="val 254523"/>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ector: curvado 13">
            <a:extLst>
              <a:ext uri="{FF2B5EF4-FFF2-40B4-BE49-F238E27FC236}">
                <a16:creationId xmlns:a16="http://schemas.microsoft.com/office/drawing/2014/main" id="{EF4388F9-2A70-D32D-46B4-17D90C76AE90}"/>
              </a:ext>
            </a:extLst>
          </p:cNvPr>
          <p:cNvCxnSpPr>
            <a:cxnSpLocks/>
            <a:stCxn id="9" idx="3"/>
            <a:endCxn id="2050" idx="3"/>
          </p:cNvCxnSpPr>
          <p:nvPr/>
        </p:nvCxnSpPr>
        <p:spPr>
          <a:xfrm flipH="1">
            <a:off x="8959812" y="1559055"/>
            <a:ext cx="935527" cy="3441265"/>
          </a:xfrm>
          <a:prstGeom prst="curvedConnector3">
            <a:avLst>
              <a:gd name="adj1" fmla="val -136240"/>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092390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470B6156-D008-BBDC-043C-11F6927015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69119" y="0"/>
            <a:ext cx="9453761" cy="6858000"/>
          </a:xfrm>
          <a:prstGeom prst="rect">
            <a:avLst/>
          </a:prstGeom>
        </p:spPr>
      </p:pic>
    </p:spTree>
    <p:extLst>
      <p:ext uri="{BB962C8B-B14F-4D97-AF65-F5344CB8AC3E}">
        <p14:creationId xmlns:p14="http://schemas.microsoft.com/office/powerpoint/2010/main" val="35814602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ACA6F80-D392-A64E-3CF8-F28F1CCEE6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AC436BC-7D3E-3602-26AE-8CFE4A375670}"/>
              </a:ext>
            </a:extLst>
          </p:cNvPr>
          <p:cNvSpPr>
            <a:spLocks noGrp="1"/>
          </p:cNvSpPr>
          <p:nvPr>
            <p:ph type="title"/>
          </p:nvPr>
        </p:nvSpPr>
        <p:spPr>
          <a:xfrm>
            <a:off x="614678" y="322499"/>
            <a:ext cx="5105401" cy="873760"/>
          </a:xfrm>
        </p:spPr>
        <p:txBody>
          <a:bodyPr anchor="t">
            <a:normAutofit/>
          </a:bodyPr>
          <a:lstStyle/>
          <a:p>
            <a:r>
              <a:rPr lang="es-CL" dirty="0"/>
              <a:t>Modelos y algoritmos</a:t>
            </a:r>
          </a:p>
        </p:txBody>
      </p:sp>
      <p:sp>
        <p:nvSpPr>
          <p:cNvPr id="3" name="Marcador de contenido 2">
            <a:extLst>
              <a:ext uri="{FF2B5EF4-FFF2-40B4-BE49-F238E27FC236}">
                <a16:creationId xmlns:a16="http://schemas.microsoft.com/office/drawing/2014/main" id="{D26107F9-773C-0C9F-8E37-B20E5AB45B0C}"/>
              </a:ext>
            </a:extLst>
          </p:cNvPr>
          <p:cNvSpPr>
            <a:spLocks noGrp="1"/>
          </p:cNvSpPr>
          <p:nvPr>
            <p:ph idx="1"/>
          </p:nvPr>
        </p:nvSpPr>
        <p:spPr>
          <a:xfrm>
            <a:off x="614678" y="1117599"/>
            <a:ext cx="5684522" cy="2125561"/>
          </a:xfrm>
        </p:spPr>
        <p:txBody>
          <a:bodyPr anchor="t">
            <a:normAutofit/>
          </a:bodyPr>
          <a:lstStyle/>
          <a:p>
            <a:pPr marL="0" indent="0">
              <a:lnSpc>
                <a:spcPct val="110000"/>
              </a:lnSpc>
              <a:buNone/>
            </a:pPr>
            <a:r>
              <a:rPr lang="es-ES" sz="1100" b="1" dirty="0"/>
              <a:t>2. </a:t>
            </a:r>
            <a:r>
              <a:rPr lang="es-ES" sz="1100" b="1" dirty="0" err="1"/>
              <a:t>Label</a:t>
            </a:r>
            <a:r>
              <a:rPr lang="es-ES" sz="1100" b="1" dirty="0"/>
              <a:t> </a:t>
            </a:r>
            <a:r>
              <a:rPr lang="es-ES" sz="1100" b="1" dirty="0" err="1"/>
              <a:t>Propagation</a:t>
            </a:r>
            <a:r>
              <a:rPr lang="es-ES" sz="1100" b="1" dirty="0"/>
              <a:t> (propagación de etiquetas)</a:t>
            </a:r>
            <a:endParaRPr lang="es-ES" sz="1100" dirty="0"/>
          </a:p>
          <a:p>
            <a:pPr>
              <a:lnSpc>
                <a:spcPct val="110000"/>
              </a:lnSpc>
            </a:pPr>
            <a:r>
              <a:rPr lang="es-ES" sz="1100" dirty="0"/>
              <a:t>Su principio fundamental es extremadamente simple: cada nodo adopta la etiqueta (comunidad) más frecuente entre sus vecinos. A pesar de su simplicidad, produce resultados comparables a métodos más complejos. </a:t>
            </a:r>
            <a:r>
              <a:rPr lang="es-ES" sz="1100" b="1" dirty="0"/>
              <a:t>Con el tiempo, los nodos cercanos comparten la misma etiqueta → forman comunidades.</a:t>
            </a:r>
          </a:p>
          <a:p>
            <a:pPr>
              <a:lnSpc>
                <a:spcPct val="110000"/>
              </a:lnSpc>
            </a:pPr>
            <a:r>
              <a:rPr lang="es-ES" sz="1100" dirty="0"/>
              <a:t>El algoritmo se basa en el principio de </a:t>
            </a:r>
            <a:r>
              <a:rPr lang="es-ES" sz="1100" b="1" dirty="0" err="1"/>
              <a:t>homofilia</a:t>
            </a:r>
            <a:r>
              <a:rPr lang="es-ES" sz="1100" b="1" dirty="0"/>
              <a:t> en redes</a:t>
            </a:r>
            <a:r>
              <a:rPr lang="es-ES" sz="1100" dirty="0"/>
              <a:t>: los nodos conectados tienden a pertenecer a la misma comunidad. No optimiza explícitamente ninguna función objetivo como la modularidad, sino que permite que las comunidades "emerjan" naturalmente a través de la propagación local de información.</a:t>
            </a:r>
          </a:p>
        </p:txBody>
      </p:sp>
      <p:sp>
        <p:nvSpPr>
          <p:cNvPr id="6" name="CuadroTexto 5">
            <a:extLst>
              <a:ext uri="{FF2B5EF4-FFF2-40B4-BE49-F238E27FC236}">
                <a16:creationId xmlns:a16="http://schemas.microsoft.com/office/drawing/2014/main" id="{37718B53-476F-6BAF-D480-A90A9A13EA8A}"/>
              </a:ext>
            </a:extLst>
          </p:cNvPr>
          <p:cNvSpPr txBox="1"/>
          <p:nvPr/>
        </p:nvSpPr>
        <p:spPr>
          <a:xfrm>
            <a:off x="6228265" y="1643928"/>
            <a:ext cx="5831401" cy="1446550"/>
          </a:xfrm>
          <a:prstGeom prst="rect">
            <a:avLst/>
          </a:prstGeom>
          <a:noFill/>
        </p:spPr>
        <p:txBody>
          <a:bodyPr wrap="square">
            <a:spAutoFit/>
          </a:bodyPr>
          <a:lstStyle/>
          <a:p>
            <a:pPr>
              <a:buNone/>
            </a:pPr>
            <a:r>
              <a:rPr lang="es-ES" sz="1100" b="1" dirty="0"/>
              <a:t>Supuestos del Modelo</a:t>
            </a:r>
          </a:p>
          <a:p>
            <a:pPr>
              <a:buFont typeface="+mj-lt"/>
              <a:buAutoNum type="arabicPeriod"/>
            </a:pPr>
            <a:r>
              <a:rPr lang="es-ES" sz="1100" b="1" dirty="0"/>
              <a:t> </a:t>
            </a:r>
            <a:r>
              <a:rPr lang="es-ES" sz="1100" b="1" dirty="0" err="1"/>
              <a:t>Homofilia</a:t>
            </a:r>
            <a:r>
              <a:rPr lang="es-ES" sz="1100" dirty="0"/>
              <a:t>: Nodos conectados tienen mayor probabilidad de pertenecer a la misma comunidad</a:t>
            </a:r>
          </a:p>
          <a:p>
            <a:pPr>
              <a:buFont typeface="+mj-lt"/>
              <a:buAutoNum type="arabicPeriod"/>
            </a:pPr>
            <a:r>
              <a:rPr lang="es-ES" sz="1100" b="1" dirty="0"/>
              <a:t>Consenso local</a:t>
            </a:r>
            <a:r>
              <a:rPr lang="es-ES" sz="1100" dirty="0"/>
              <a:t>: La etiqueta mayoritaria entre vecinos es un buen indicador de pertenencia comunitaria</a:t>
            </a:r>
          </a:p>
          <a:p>
            <a:pPr>
              <a:buFont typeface="+mj-lt"/>
              <a:buAutoNum type="arabicPeriod"/>
            </a:pPr>
            <a:r>
              <a:rPr lang="es-ES" sz="1100" b="1" dirty="0"/>
              <a:t>Convergencia rápida</a:t>
            </a:r>
            <a:r>
              <a:rPr lang="es-ES" sz="1100" dirty="0"/>
              <a:t>: Las comunidades se estabilizan en pocas iteraciones</a:t>
            </a:r>
          </a:p>
          <a:p>
            <a:pPr>
              <a:buFont typeface="+mj-lt"/>
              <a:buAutoNum type="arabicPeriod"/>
            </a:pPr>
            <a:r>
              <a:rPr lang="es-ES" sz="1100" b="1" dirty="0"/>
              <a:t>Estructura densa</a:t>
            </a:r>
            <a:r>
              <a:rPr lang="es-ES" sz="1100" dirty="0"/>
              <a:t>: Funciona mejor en redes con comunidades densamente conectadas</a:t>
            </a:r>
          </a:p>
        </p:txBody>
      </p:sp>
      <p:pic>
        <p:nvPicPr>
          <p:cNvPr id="9" name="Imagen 8" descr="Diagrama&#10;&#10;El contenido generado por IA puede ser incorrecto.">
            <a:extLst>
              <a:ext uri="{FF2B5EF4-FFF2-40B4-BE49-F238E27FC236}">
                <a16:creationId xmlns:a16="http://schemas.microsoft.com/office/drawing/2014/main" id="{B840E9AE-4633-699C-33AE-1CA6FBC3F6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4004" y="3487386"/>
            <a:ext cx="8150063" cy="2799403"/>
          </a:xfrm>
          <a:prstGeom prst="rect">
            <a:avLst/>
          </a:prstGeom>
        </p:spPr>
      </p:pic>
      <p:pic>
        <p:nvPicPr>
          <p:cNvPr id="12" name="Imagen 11">
            <a:extLst>
              <a:ext uri="{FF2B5EF4-FFF2-40B4-BE49-F238E27FC236}">
                <a16:creationId xmlns:a16="http://schemas.microsoft.com/office/drawing/2014/main" id="{4EEFD667-A657-8C68-2410-6E3F3B268123}"/>
              </a:ext>
            </a:extLst>
          </p:cNvPr>
          <p:cNvPicPr>
            <a:picLocks noChangeAspect="1"/>
          </p:cNvPicPr>
          <p:nvPr/>
        </p:nvPicPr>
        <p:blipFill>
          <a:blip r:embed="rId3"/>
          <a:stretch>
            <a:fillRect/>
          </a:stretch>
        </p:blipFill>
        <p:spPr>
          <a:xfrm>
            <a:off x="6299200" y="152749"/>
            <a:ext cx="5133789" cy="1441248"/>
          </a:xfrm>
          <a:prstGeom prst="rect">
            <a:avLst/>
          </a:prstGeom>
        </p:spPr>
      </p:pic>
    </p:spTree>
    <p:extLst>
      <p:ext uri="{BB962C8B-B14F-4D97-AF65-F5344CB8AC3E}">
        <p14:creationId xmlns:p14="http://schemas.microsoft.com/office/powerpoint/2010/main" val="38736789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descr="Diagrama&#10;&#10;El contenido generado por IA puede ser incorrecto.">
            <a:extLst>
              <a:ext uri="{FF2B5EF4-FFF2-40B4-BE49-F238E27FC236}">
                <a16:creationId xmlns:a16="http://schemas.microsoft.com/office/drawing/2014/main" id="{7F818633-B13C-CC16-A7A6-5B765CDF3B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8205" y="920103"/>
            <a:ext cx="11855590" cy="4750595"/>
          </a:xfrm>
          <a:prstGeom prst="rect">
            <a:avLst/>
          </a:prstGeom>
        </p:spPr>
      </p:pic>
    </p:spTree>
    <p:extLst>
      <p:ext uri="{BB962C8B-B14F-4D97-AF65-F5344CB8AC3E}">
        <p14:creationId xmlns:p14="http://schemas.microsoft.com/office/powerpoint/2010/main" val="26085950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contenido 4" descr="Diagrama&#10;&#10;El contenido generado por IA puede ser incorrecto.">
            <a:extLst>
              <a:ext uri="{FF2B5EF4-FFF2-40B4-BE49-F238E27FC236}">
                <a16:creationId xmlns:a16="http://schemas.microsoft.com/office/drawing/2014/main" id="{13D2BFBA-2D4C-0272-CF92-D756D45A842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00210" y="876583"/>
            <a:ext cx="8191580" cy="4538844"/>
          </a:xfrm>
        </p:spPr>
      </p:pic>
    </p:spTree>
    <p:extLst>
      <p:ext uri="{BB962C8B-B14F-4D97-AF65-F5344CB8AC3E}">
        <p14:creationId xmlns:p14="http://schemas.microsoft.com/office/powerpoint/2010/main" val="24437541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D45BC99-A348-7675-80FC-103E7576E25E}"/>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8207B083-EAC0-A5BB-C369-C9589EC7F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067CC483-8EE7-1AEE-26AB-59173627DAB0}"/>
              </a:ext>
            </a:extLst>
          </p:cNvPr>
          <p:cNvSpPr>
            <a:spLocks noGrp="1"/>
          </p:cNvSpPr>
          <p:nvPr>
            <p:ph type="title"/>
          </p:nvPr>
        </p:nvSpPr>
        <p:spPr>
          <a:xfrm>
            <a:off x="614677" y="603504"/>
            <a:ext cx="10872216" cy="1527048"/>
          </a:xfrm>
        </p:spPr>
        <p:txBody>
          <a:bodyPr anchor="b">
            <a:normAutofit/>
          </a:bodyPr>
          <a:lstStyle/>
          <a:p>
            <a:r>
              <a:rPr lang="es-CL" dirty="0"/>
              <a:t>Modelos y algoritmos</a:t>
            </a:r>
          </a:p>
        </p:txBody>
      </p:sp>
      <p:pic>
        <p:nvPicPr>
          <p:cNvPr id="6" name="Imagen 5">
            <a:extLst>
              <a:ext uri="{FF2B5EF4-FFF2-40B4-BE49-F238E27FC236}">
                <a16:creationId xmlns:a16="http://schemas.microsoft.com/office/drawing/2014/main" id="{C8EB9145-6D93-1209-DD04-BAA8DFD66EE1}"/>
              </a:ext>
            </a:extLst>
          </p:cNvPr>
          <p:cNvPicPr>
            <a:picLocks noChangeAspect="1"/>
          </p:cNvPicPr>
          <p:nvPr/>
        </p:nvPicPr>
        <p:blipFill>
          <a:blip r:embed="rId2"/>
          <a:stretch>
            <a:fillRect/>
          </a:stretch>
        </p:blipFill>
        <p:spPr>
          <a:xfrm>
            <a:off x="614678" y="2441274"/>
            <a:ext cx="5173647" cy="3414606"/>
          </a:xfrm>
          <a:prstGeom prst="rect">
            <a:avLst/>
          </a:prstGeom>
        </p:spPr>
      </p:pic>
      <p:sp>
        <p:nvSpPr>
          <p:cNvPr id="3" name="Marcador de contenido 2">
            <a:extLst>
              <a:ext uri="{FF2B5EF4-FFF2-40B4-BE49-F238E27FC236}">
                <a16:creationId xmlns:a16="http://schemas.microsoft.com/office/drawing/2014/main" id="{5B58F075-6DF5-7CBE-4464-0A315055BED3}"/>
              </a:ext>
            </a:extLst>
          </p:cNvPr>
          <p:cNvSpPr>
            <a:spLocks noGrp="1"/>
          </p:cNvSpPr>
          <p:nvPr>
            <p:ph idx="1"/>
          </p:nvPr>
        </p:nvSpPr>
        <p:spPr>
          <a:xfrm>
            <a:off x="6096000" y="2441273"/>
            <a:ext cx="5385816" cy="1684160"/>
          </a:xfrm>
        </p:spPr>
        <p:txBody>
          <a:bodyPr anchor="t">
            <a:normAutofit/>
          </a:bodyPr>
          <a:lstStyle/>
          <a:p>
            <a:pPr marL="0" indent="0">
              <a:lnSpc>
                <a:spcPct val="110000"/>
              </a:lnSpc>
              <a:buNone/>
            </a:pPr>
            <a:r>
              <a:rPr lang="es-ES" sz="1000" b="1" dirty="0"/>
              <a:t>3. </a:t>
            </a:r>
            <a:r>
              <a:rPr lang="es-ES" sz="1000" b="1" dirty="0" err="1"/>
              <a:t>Girvan</a:t>
            </a:r>
            <a:r>
              <a:rPr lang="es-ES" sz="1000" b="1" dirty="0"/>
              <a:t>–Newman (división jerárquica)</a:t>
            </a:r>
          </a:p>
          <a:p>
            <a:pPr marL="0" indent="0">
              <a:lnSpc>
                <a:spcPct val="110000"/>
              </a:lnSpc>
              <a:buNone/>
            </a:pPr>
            <a:r>
              <a:rPr lang="es-ES" sz="1000" dirty="0"/>
              <a:t>A diferencia de los métodos </a:t>
            </a:r>
            <a:r>
              <a:rPr lang="es-ES" sz="1000" dirty="0" err="1"/>
              <a:t>aglomerativos</a:t>
            </a:r>
            <a:r>
              <a:rPr lang="es-ES" sz="1000" dirty="0"/>
              <a:t> que fusionan nodos, este algoritmo identifica comunidades mediante la </a:t>
            </a:r>
            <a:r>
              <a:rPr lang="es-ES" sz="1000" b="1" dirty="0"/>
              <a:t>eliminación progresiva de enlaces</a:t>
            </a:r>
            <a:r>
              <a:rPr lang="es-ES" sz="1000" dirty="0"/>
              <a:t> que conectan diferentes comunidades, basándose en el concepto de </a:t>
            </a:r>
            <a:r>
              <a:rPr lang="es-ES" sz="1000" b="1" dirty="0" err="1"/>
              <a:t>betweenness</a:t>
            </a:r>
            <a:r>
              <a:rPr lang="es-ES" sz="1000" dirty="0"/>
              <a:t> (intermediación).</a:t>
            </a:r>
          </a:p>
          <a:p>
            <a:pPr marL="0" indent="0">
              <a:lnSpc>
                <a:spcPct val="110000"/>
              </a:lnSpc>
              <a:buNone/>
            </a:pPr>
            <a:r>
              <a:rPr lang="es-ES" sz="1000" dirty="0"/>
              <a:t>El algoritmo se fundamenta en el concepto de </a:t>
            </a:r>
            <a:r>
              <a:rPr lang="es-ES" sz="1000" b="1" dirty="0" err="1"/>
              <a:t>edge</a:t>
            </a:r>
            <a:r>
              <a:rPr lang="es-ES" sz="1000" b="1" dirty="0"/>
              <a:t> </a:t>
            </a:r>
            <a:r>
              <a:rPr lang="es-ES" sz="1000" b="1" dirty="0" err="1"/>
              <a:t>betweenness</a:t>
            </a:r>
            <a:r>
              <a:rPr lang="es-ES" sz="1000" dirty="0"/>
              <a:t> (intermediación de aristas), que mide cuántos caminos más cortos entre pares de nodos pasan por un enlace específico. Los enlaces con alta intermediación actúan como "puentes" entre comunidades, por lo que su remoción revela la estructura comunitaria subyacente.</a:t>
            </a:r>
          </a:p>
        </p:txBody>
      </p:sp>
      <p:sp>
        <p:nvSpPr>
          <p:cNvPr id="9" name="CuadroTexto 8">
            <a:extLst>
              <a:ext uri="{FF2B5EF4-FFF2-40B4-BE49-F238E27FC236}">
                <a16:creationId xmlns:a16="http://schemas.microsoft.com/office/drawing/2014/main" id="{4382BCDE-A136-603D-1353-5F7BF540E1B2}"/>
              </a:ext>
            </a:extLst>
          </p:cNvPr>
          <p:cNvSpPr txBox="1"/>
          <p:nvPr/>
        </p:nvSpPr>
        <p:spPr>
          <a:xfrm>
            <a:off x="6050785" y="4383720"/>
            <a:ext cx="6096000" cy="1107996"/>
          </a:xfrm>
          <a:prstGeom prst="rect">
            <a:avLst/>
          </a:prstGeom>
          <a:noFill/>
        </p:spPr>
        <p:txBody>
          <a:bodyPr wrap="square">
            <a:spAutoFit/>
          </a:bodyPr>
          <a:lstStyle/>
          <a:p>
            <a:pPr>
              <a:buNone/>
            </a:pPr>
            <a:r>
              <a:rPr lang="es-ES" sz="1100" b="1" dirty="0"/>
              <a:t>Supuestos del Modelo</a:t>
            </a:r>
          </a:p>
          <a:p>
            <a:pPr>
              <a:buFont typeface="+mj-lt"/>
              <a:buAutoNum type="arabicPeriod"/>
            </a:pPr>
            <a:r>
              <a:rPr lang="es-ES" sz="1100" b="1" dirty="0"/>
              <a:t>Enlaces </a:t>
            </a:r>
            <a:r>
              <a:rPr lang="es-ES" sz="1100" b="1" dirty="0" err="1"/>
              <a:t>inter-comunitarios</a:t>
            </a:r>
            <a:r>
              <a:rPr lang="es-ES" sz="1100" dirty="0"/>
              <a:t>: Los enlaces entre comunidades tienen alta intermediación</a:t>
            </a:r>
          </a:p>
          <a:p>
            <a:pPr>
              <a:buFont typeface="+mj-lt"/>
              <a:buAutoNum type="arabicPeriod"/>
            </a:pPr>
            <a:r>
              <a:rPr lang="es-ES" sz="1100" b="1" dirty="0"/>
              <a:t>Estructura jerárquica</a:t>
            </a:r>
            <a:r>
              <a:rPr lang="es-ES" sz="1100" dirty="0"/>
              <a:t>: Las comunidades están organizadas en niveles (</a:t>
            </a:r>
            <a:r>
              <a:rPr lang="es-ES" sz="1100" dirty="0" err="1"/>
              <a:t>dendrograma</a:t>
            </a:r>
            <a:r>
              <a:rPr lang="es-ES" sz="1100" dirty="0"/>
              <a:t>)</a:t>
            </a:r>
          </a:p>
          <a:p>
            <a:pPr>
              <a:buFont typeface="+mj-lt"/>
              <a:buAutoNum type="arabicPeriod"/>
            </a:pPr>
            <a:r>
              <a:rPr lang="es-ES" sz="1100" b="1" dirty="0"/>
              <a:t>Caminos más cortos informativos</a:t>
            </a:r>
            <a:r>
              <a:rPr lang="es-ES" sz="1100" dirty="0"/>
              <a:t>: La información fluye principalmente por caminos más cortos</a:t>
            </a:r>
          </a:p>
          <a:p>
            <a:pPr>
              <a:buFont typeface="+mj-lt"/>
              <a:buAutoNum type="arabicPeriod"/>
            </a:pPr>
            <a:r>
              <a:rPr lang="es-ES" sz="1100" b="1" dirty="0"/>
              <a:t>Modularidad como métrica</a:t>
            </a:r>
            <a:r>
              <a:rPr lang="es-ES" sz="1100" dirty="0"/>
              <a:t>: La mejor partición es la que maximiza Q</a:t>
            </a:r>
          </a:p>
        </p:txBody>
      </p:sp>
    </p:spTree>
    <p:extLst>
      <p:ext uri="{BB962C8B-B14F-4D97-AF65-F5344CB8AC3E}">
        <p14:creationId xmlns:p14="http://schemas.microsoft.com/office/powerpoint/2010/main" val="2510745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descr="Diagrama&#10;&#10;El contenido generado por IA puede ser incorrecto.">
            <a:extLst>
              <a:ext uri="{FF2B5EF4-FFF2-40B4-BE49-F238E27FC236}">
                <a16:creationId xmlns:a16="http://schemas.microsoft.com/office/drawing/2014/main" id="{9E7EE541-12CE-7F69-5284-1AFD073343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429" y="372721"/>
            <a:ext cx="12149571" cy="3185642"/>
          </a:xfrm>
          <a:prstGeom prst="rect">
            <a:avLst/>
          </a:prstGeom>
        </p:spPr>
      </p:pic>
      <p:pic>
        <p:nvPicPr>
          <p:cNvPr id="7" name="Imagen 6">
            <a:extLst>
              <a:ext uri="{FF2B5EF4-FFF2-40B4-BE49-F238E27FC236}">
                <a16:creationId xmlns:a16="http://schemas.microsoft.com/office/drawing/2014/main" id="{DDB107C9-461A-5E53-1669-1388077B78A3}"/>
              </a:ext>
            </a:extLst>
          </p:cNvPr>
          <p:cNvPicPr>
            <a:picLocks noChangeAspect="1"/>
          </p:cNvPicPr>
          <p:nvPr/>
        </p:nvPicPr>
        <p:blipFill>
          <a:blip r:embed="rId3"/>
          <a:stretch>
            <a:fillRect/>
          </a:stretch>
        </p:blipFill>
        <p:spPr>
          <a:xfrm>
            <a:off x="2180248" y="3788760"/>
            <a:ext cx="6984577" cy="2791160"/>
          </a:xfrm>
          <a:prstGeom prst="rect">
            <a:avLst/>
          </a:prstGeom>
        </p:spPr>
      </p:pic>
    </p:spTree>
    <p:extLst>
      <p:ext uri="{BB962C8B-B14F-4D97-AF65-F5344CB8AC3E}">
        <p14:creationId xmlns:p14="http://schemas.microsoft.com/office/powerpoint/2010/main" val="41240597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descr="Forma, Círculo&#10;&#10;El contenido generado por IA puede ser incorrecto.">
            <a:extLst>
              <a:ext uri="{FF2B5EF4-FFF2-40B4-BE49-F238E27FC236}">
                <a16:creationId xmlns:a16="http://schemas.microsoft.com/office/drawing/2014/main" id="{792B44F2-9D23-ADB1-C0EF-6DD1FAE531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7089" y="0"/>
            <a:ext cx="10757821" cy="6858000"/>
          </a:xfrm>
          <a:prstGeom prst="rect">
            <a:avLst/>
          </a:prstGeom>
        </p:spPr>
      </p:pic>
    </p:spTree>
    <p:extLst>
      <p:ext uri="{BB962C8B-B14F-4D97-AF65-F5344CB8AC3E}">
        <p14:creationId xmlns:p14="http://schemas.microsoft.com/office/powerpoint/2010/main" val="26822415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5151AF8-061B-DF49-CF5E-9C1AD511750F}"/>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724F705-E4BF-C283-ED18-E470C7F61B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F8281518-7432-0712-CCB5-33CA1FAFEC67}"/>
              </a:ext>
            </a:extLst>
          </p:cNvPr>
          <p:cNvSpPr>
            <a:spLocks noGrp="1"/>
          </p:cNvSpPr>
          <p:nvPr>
            <p:ph type="title"/>
          </p:nvPr>
        </p:nvSpPr>
        <p:spPr>
          <a:xfrm>
            <a:off x="614678" y="322499"/>
            <a:ext cx="5105401" cy="873760"/>
          </a:xfrm>
        </p:spPr>
        <p:txBody>
          <a:bodyPr anchor="t">
            <a:normAutofit/>
          </a:bodyPr>
          <a:lstStyle/>
          <a:p>
            <a:r>
              <a:rPr lang="es-CL" dirty="0"/>
              <a:t>Modelos y algoritmos</a:t>
            </a:r>
          </a:p>
        </p:txBody>
      </p:sp>
      <p:pic>
        <p:nvPicPr>
          <p:cNvPr id="7" name="Graphic 6" descr="Network Diagram">
            <a:extLst>
              <a:ext uri="{FF2B5EF4-FFF2-40B4-BE49-F238E27FC236}">
                <a16:creationId xmlns:a16="http://schemas.microsoft.com/office/drawing/2014/main" id="{AE496008-A2DE-FB43-43A1-57199E229B7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067515" y="-203799"/>
            <a:ext cx="2327239" cy="2327239"/>
          </a:xfrm>
          <a:prstGeom prst="rect">
            <a:avLst/>
          </a:prstGeom>
        </p:spPr>
      </p:pic>
      <p:sp>
        <p:nvSpPr>
          <p:cNvPr id="9" name="Rectángulo: esquinas redondeadas 8">
            <a:extLst>
              <a:ext uri="{FF2B5EF4-FFF2-40B4-BE49-F238E27FC236}">
                <a16:creationId xmlns:a16="http://schemas.microsoft.com/office/drawing/2014/main" id="{D2002859-D135-0565-8CF6-0E34EBBE17F2}"/>
              </a:ext>
            </a:extLst>
          </p:cNvPr>
          <p:cNvSpPr/>
          <p:nvPr/>
        </p:nvSpPr>
        <p:spPr>
          <a:xfrm>
            <a:off x="58250" y="2270413"/>
            <a:ext cx="3681538" cy="2565614"/>
          </a:xfrm>
          <a:prstGeom prst="roundRect">
            <a:avLst/>
          </a:prstGeom>
          <a:solidFill>
            <a:schemeClr val="bg2"/>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s-419" dirty="0"/>
          </a:p>
        </p:txBody>
      </p:sp>
      <p:sp>
        <p:nvSpPr>
          <p:cNvPr id="4" name="CuadroTexto 3">
            <a:extLst>
              <a:ext uri="{FF2B5EF4-FFF2-40B4-BE49-F238E27FC236}">
                <a16:creationId xmlns:a16="http://schemas.microsoft.com/office/drawing/2014/main" id="{FBFEA0FE-11C9-F2A4-36BF-3F0DEE05EFF6}"/>
              </a:ext>
            </a:extLst>
          </p:cNvPr>
          <p:cNvSpPr txBox="1"/>
          <p:nvPr/>
        </p:nvSpPr>
        <p:spPr>
          <a:xfrm>
            <a:off x="122421" y="2350168"/>
            <a:ext cx="3687579" cy="2485859"/>
          </a:xfrm>
          <a:prstGeom prst="rect">
            <a:avLst/>
          </a:prstGeom>
          <a:noFill/>
        </p:spPr>
        <p:txBody>
          <a:bodyPr wrap="square" rtlCol="0">
            <a:spAutoFit/>
          </a:bodyPr>
          <a:lstStyle/>
          <a:p>
            <a:pPr>
              <a:lnSpc>
                <a:spcPct val="110000"/>
              </a:lnSpc>
            </a:pPr>
            <a:r>
              <a:rPr lang="es-ES" sz="900" b="1" dirty="0"/>
              <a:t>LOUVAIN:</a:t>
            </a:r>
          </a:p>
          <a:p>
            <a:r>
              <a:rPr lang="es-ES" sz="900" b="1" dirty="0"/>
              <a:t>Optimización Heurística Inteligente:</a:t>
            </a:r>
            <a:endParaRPr lang="es-ES" sz="900" dirty="0"/>
          </a:p>
          <a:p>
            <a:r>
              <a:rPr lang="es-ES" sz="900" dirty="0"/>
              <a:t>No busca el óptimo global (demasiado costoso)</a:t>
            </a:r>
          </a:p>
          <a:p>
            <a:r>
              <a:rPr lang="es-ES" sz="900" dirty="0"/>
              <a:t>Encuentra óptimos locales de alta calidad rápidamente</a:t>
            </a:r>
          </a:p>
          <a:p>
            <a:r>
              <a:rPr lang="es-ES" sz="900" dirty="0"/>
              <a:t>La heurística </a:t>
            </a:r>
            <a:r>
              <a:rPr lang="es-ES" sz="900" dirty="0" err="1"/>
              <a:t>greedy</a:t>
            </a:r>
            <a:r>
              <a:rPr lang="es-ES" sz="900" dirty="0"/>
              <a:t> (codiciosa) reduce drásticamente el espacio de búsqueda</a:t>
            </a:r>
          </a:p>
          <a:p>
            <a:r>
              <a:rPr lang="es-ES" sz="900" b="1" dirty="0"/>
              <a:t>b) Agregación Progresiva:</a:t>
            </a:r>
            <a:endParaRPr lang="es-ES" sz="900" dirty="0"/>
          </a:p>
          <a:p>
            <a:r>
              <a:rPr lang="es-ES" sz="900" dirty="0"/>
              <a:t>Reduce el tamaño del problema en cada fase</a:t>
            </a:r>
          </a:p>
          <a:p>
            <a:r>
              <a:rPr lang="es-ES" sz="900" dirty="0"/>
              <a:t>La red se vuelve más manejable iterativamente</a:t>
            </a:r>
          </a:p>
          <a:p>
            <a:r>
              <a:rPr lang="es-ES" sz="900" dirty="0"/>
              <a:t>Complejidad efectiva: O(n log n) en redes dispersas</a:t>
            </a:r>
          </a:p>
          <a:p>
            <a:r>
              <a:rPr lang="es-ES" sz="900" b="1" dirty="0"/>
              <a:t>c) Maximización de Modularidad:</a:t>
            </a:r>
            <a:endParaRPr lang="es-ES" sz="900" dirty="0"/>
          </a:p>
          <a:p>
            <a:r>
              <a:rPr lang="es-ES" sz="900" dirty="0"/>
              <a:t>Optimiza directamente la métrica más aceptada (Q)</a:t>
            </a:r>
          </a:p>
          <a:p>
            <a:r>
              <a:rPr lang="es-ES" sz="900" dirty="0"/>
              <a:t>Garantiza que las comunidades detectadas tienen fundamento teórico</a:t>
            </a:r>
          </a:p>
          <a:p>
            <a:r>
              <a:rPr lang="es-ES" sz="900" dirty="0"/>
              <a:t>Balance entre cohesión interna y separación externa</a:t>
            </a:r>
          </a:p>
          <a:p>
            <a:endParaRPr lang="es-CL" dirty="0"/>
          </a:p>
        </p:txBody>
      </p:sp>
      <p:sp>
        <p:nvSpPr>
          <p:cNvPr id="12" name="Rectángulo: esquinas redondeadas 11">
            <a:extLst>
              <a:ext uri="{FF2B5EF4-FFF2-40B4-BE49-F238E27FC236}">
                <a16:creationId xmlns:a16="http://schemas.microsoft.com/office/drawing/2014/main" id="{2ED10185-EE38-7FDC-D8A1-5523BF40DEED}"/>
              </a:ext>
            </a:extLst>
          </p:cNvPr>
          <p:cNvSpPr/>
          <p:nvPr/>
        </p:nvSpPr>
        <p:spPr>
          <a:xfrm>
            <a:off x="4374409" y="2327239"/>
            <a:ext cx="3270676" cy="2565614"/>
          </a:xfrm>
          <a:prstGeom prst="roundRect">
            <a:avLst/>
          </a:prstGeom>
          <a:solidFill>
            <a:schemeClr val="bg2"/>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s-419" dirty="0"/>
          </a:p>
        </p:txBody>
      </p:sp>
      <p:sp>
        <p:nvSpPr>
          <p:cNvPr id="5" name="CuadroTexto 4">
            <a:extLst>
              <a:ext uri="{FF2B5EF4-FFF2-40B4-BE49-F238E27FC236}">
                <a16:creationId xmlns:a16="http://schemas.microsoft.com/office/drawing/2014/main" id="{D85078E1-DB09-4A88-A6D6-6C7C921ECF90}"/>
              </a:ext>
            </a:extLst>
          </p:cNvPr>
          <p:cNvSpPr txBox="1"/>
          <p:nvPr/>
        </p:nvSpPr>
        <p:spPr>
          <a:xfrm>
            <a:off x="4695342" y="2569787"/>
            <a:ext cx="2949742" cy="1892826"/>
          </a:xfrm>
          <a:prstGeom prst="rect">
            <a:avLst/>
          </a:prstGeom>
          <a:noFill/>
        </p:spPr>
        <p:txBody>
          <a:bodyPr wrap="square">
            <a:spAutoFit/>
          </a:bodyPr>
          <a:lstStyle/>
          <a:p>
            <a:pPr>
              <a:buNone/>
            </a:pPr>
            <a:r>
              <a:rPr lang="es-ES" sz="900" b="1" dirty="0"/>
              <a:t>LABEL PROPAGATION:</a:t>
            </a:r>
          </a:p>
          <a:p>
            <a:pPr>
              <a:buNone/>
            </a:pPr>
            <a:r>
              <a:rPr lang="es-ES" sz="900" b="1" dirty="0"/>
              <a:t>Simplicidad Radical:</a:t>
            </a:r>
            <a:endParaRPr lang="es-ES" sz="900" dirty="0"/>
          </a:p>
          <a:p>
            <a:pPr>
              <a:buFont typeface="Arial" panose="020B0604020202020204" pitchFamily="34" charset="0"/>
              <a:buChar char="•"/>
            </a:pPr>
            <a:r>
              <a:rPr lang="es-ES" sz="900" dirty="0"/>
              <a:t>No calcula funciones objetivo complejas</a:t>
            </a:r>
          </a:p>
          <a:p>
            <a:pPr>
              <a:buFont typeface="Arial" panose="020B0604020202020204" pitchFamily="34" charset="0"/>
              <a:buChar char="•"/>
            </a:pPr>
            <a:r>
              <a:rPr lang="es-ES" sz="900" dirty="0"/>
              <a:t>No requiere optimización global</a:t>
            </a:r>
          </a:p>
          <a:p>
            <a:pPr>
              <a:buFont typeface="Arial" panose="020B0604020202020204" pitchFamily="34" charset="0"/>
              <a:buChar char="•"/>
            </a:pPr>
            <a:r>
              <a:rPr lang="es-ES" sz="900" dirty="0"/>
              <a:t>Solo cuenta frecuencias locales</a:t>
            </a:r>
          </a:p>
          <a:p>
            <a:pPr>
              <a:buNone/>
            </a:pPr>
            <a:r>
              <a:rPr lang="es-ES" sz="900" b="1" dirty="0"/>
              <a:t>b) Actualización Local:</a:t>
            </a:r>
            <a:endParaRPr lang="es-ES" sz="900" dirty="0"/>
          </a:p>
          <a:p>
            <a:pPr>
              <a:buFont typeface="Arial" panose="020B0604020202020204" pitchFamily="34" charset="0"/>
              <a:buChar char="•"/>
            </a:pPr>
            <a:r>
              <a:rPr lang="es-ES" sz="900" dirty="0"/>
              <a:t>Cada nodo solo consulta a sus vecinos inmediatos</a:t>
            </a:r>
          </a:p>
          <a:p>
            <a:pPr>
              <a:buFont typeface="Arial" panose="020B0604020202020204" pitchFamily="34" charset="0"/>
              <a:buChar char="•"/>
            </a:pPr>
            <a:r>
              <a:rPr lang="es-ES" sz="900" dirty="0"/>
              <a:t>No necesita información global de la red</a:t>
            </a:r>
          </a:p>
          <a:p>
            <a:pPr>
              <a:buFont typeface="Arial" panose="020B0604020202020204" pitchFamily="34" charset="0"/>
              <a:buChar char="•"/>
            </a:pPr>
            <a:r>
              <a:rPr lang="es-ES" sz="900" dirty="0" err="1"/>
              <a:t>Paralelizable</a:t>
            </a:r>
            <a:r>
              <a:rPr lang="es-ES" sz="900" dirty="0"/>
              <a:t> naturalmente</a:t>
            </a:r>
          </a:p>
          <a:p>
            <a:pPr>
              <a:buNone/>
            </a:pPr>
            <a:r>
              <a:rPr lang="es-ES" sz="900" b="1" dirty="0"/>
              <a:t>c) Convergencia Rápida:</a:t>
            </a:r>
            <a:endParaRPr lang="es-ES" sz="900" dirty="0"/>
          </a:p>
          <a:p>
            <a:pPr>
              <a:buFont typeface="Arial" panose="020B0604020202020204" pitchFamily="34" charset="0"/>
              <a:buChar char="•"/>
            </a:pPr>
            <a:r>
              <a:rPr lang="es-ES" sz="900" dirty="0"/>
              <a:t>Típicamente converge en 5-20 iteraciones</a:t>
            </a:r>
          </a:p>
          <a:p>
            <a:pPr>
              <a:buFont typeface="Arial" panose="020B0604020202020204" pitchFamily="34" charset="0"/>
              <a:buChar char="•"/>
            </a:pPr>
            <a:r>
              <a:rPr lang="es-ES" sz="900" dirty="0"/>
              <a:t>Cada iteración es O(m) - lineal en enlaces</a:t>
            </a:r>
          </a:p>
          <a:p>
            <a:pPr>
              <a:buFont typeface="Arial" panose="020B0604020202020204" pitchFamily="34" charset="0"/>
              <a:buChar char="•"/>
            </a:pPr>
            <a:r>
              <a:rPr lang="es-ES" sz="900" dirty="0"/>
              <a:t>Complejidad total: O(</a:t>
            </a:r>
            <a:r>
              <a:rPr lang="es-ES" sz="900" dirty="0" err="1"/>
              <a:t>m·t</a:t>
            </a:r>
            <a:r>
              <a:rPr lang="es-ES" sz="900" dirty="0"/>
              <a:t>) donde t es pequeño</a:t>
            </a:r>
          </a:p>
        </p:txBody>
      </p:sp>
      <p:sp>
        <p:nvSpPr>
          <p:cNvPr id="13" name="Rectángulo: esquinas redondeadas 12">
            <a:extLst>
              <a:ext uri="{FF2B5EF4-FFF2-40B4-BE49-F238E27FC236}">
                <a16:creationId xmlns:a16="http://schemas.microsoft.com/office/drawing/2014/main" id="{08E59FDC-4108-23E9-76AD-297A6BFE73E1}"/>
              </a:ext>
            </a:extLst>
          </p:cNvPr>
          <p:cNvSpPr/>
          <p:nvPr/>
        </p:nvSpPr>
        <p:spPr>
          <a:xfrm>
            <a:off x="8273666" y="2318656"/>
            <a:ext cx="3912293" cy="2565614"/>
          </a:xfrm>
          <a:prstGeom prst="roundRect">
            <a:avLst/>
          </a:prstGeom>
          <a:solidFill>
            <a:schemeClr val="bg2"/>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s-419" dirty="0"/>
          </a:p>
        </p:txBody>
      </p:sp>
      <p:sp>
        <p:nvSpPr>
          <p:cNvPr id="8" name="CuadroTexto 7">
            <a:extLst>
              <a:ext uri="{FF2B5EF4-FFF2-40B4-BE49-F238E27FC236}">
                <a16:creationId xmlns:a16="http://schemas.microsoft.com/office/drawing/2014/main" id="{0A3A94E5-7339-80DD-C644-F50DDBBD5477}"/>
              </a:ext>
            </a:extLst>
          </p:cNvPr>
          <p:cNvSpPr txBox="1"/>
          <p:nvPr/>
        </p:nvSpPr>
        <p:spPr>
          <a:xfrm>
            <a:off x="8456295" y="2527703"/>
            <a:ext cx="3793955" cy="2308324"/>
          </a:xfrm>
          <a:prstGeom prst="rect">
            <a:avLst/>
          </a:prstGeom>
          <a:noFill/>
        </p:spPr>
        <p:txBody>
          <a:bodyPr wrap="square">
            <a:spAutoFit/>
          </a:bodyPr>
          <a:lstStyle/>
          <a:p>
            <a:pPr>
              <a:buNone/>
            </a:pPr>
            <a:r>
              <a:rPr lang="es-ES" sz="900" b="1" dirty="0"/>
              <a:t>GIRVAN-NEWMAN:</a:t>
            </a:r>
          </a:p>
          <a:p>
            <a:pPr>
              <a:buNone/>
            </a:pPr>
            <a:r>
              <a:rPr lang="es-ES" sz="900" b="1" dirty="0"/>
              <a:t>Enfoque Divisivo Completo</a:t>
            </a:r>
          </a:p>
          <a:p>
            <a:pPr>
              <a:buNone/>
            </a:pPr>
            <a:r>
              <a:rPr lang="es-ES" sz="900" dirty="0" err="1"/>
              <a:t>Girvan</a:t>
            </a:r>
            <a:r>
              <a:rPr lang="es-ES" sz="900" dirty="0"/>
              <a:t>-Newman adopta una </a:t>
            </a:r>
            <a:r>
              <a:rPr lang="es-ES" sz="900" b="1" dirty="0"/>
              <a:t>estrategia top-</a:t>
            </a:r>
            <a:r>
              <a:rPr lang="es-ES" sz="900" b="1" dirty="0" err="1"/>
              <a:t>down</a:t>
            </a:r>
            <a:r>
              <a:rPr lang="es-ES" sz="900" dirty="0"/>
              <a:t> fundamentalmente diferente:</a:t>
            </a:r>
          </a:p>
          <a:p>
            <a:pPr>
              <a:buNone/>
            </a:pPr>
            <a:r>
              <a:rPr lang="es-ES" sz="900" b="1" dirty="0"/>
              <a:t>a) Deconstrucción Progresiva:</a:t>
            </a:r>
            <a:endParaRPr lang="es-ES" sz="900" dirty="0"/>
          </a:p>
          <a:p>
            <a:pPr>
              <a:buFont typeface="Arial" panose="020B0604020202020204" pitchFamily="34" charset="0"/>
              <a:buChar char="•"/>
            </a:pPr>
            <a:r>
              <a:rPr lang="es-ES" sz="900" dirty="0"/>
              <a:t>Comienza con la red completa como una comunidad</a:t>
            </a:r>
          </a:p>
          <a:p>
            <a:pPr>
              <a:buFont typeface="Arial" panose="020B0604020202020204" pitchFamily="34" charset="0"/>
              <a:buChar char="•"/>
            </a:pPr>
            <a:r>
              <a:rPr lang="es-ES" sz="900" dirty="0"/>
              <a:t>Divide iterativamente eliminando "puentes"</a:t>
            </a:r>
          </a:p>
          <a:p>
            <a:pPr>
              <a:buFont typeface="Arial" panose="020B0604020202020204" pitchFamily="34" charset="0"/>
              <a:buChar char="•"/>
            </a:pPr>
            <a:r>
              <a:rPr lang="es-ES" sz="900" dirty="0"/>
              <a:t>Genera todas las particiones posibles</a:t>
            </a:r>
          </a:p>
          <a:p>
            <a:pPr>
              <a:buNone/>
            </a:pPr>
            <a:r>
              <a:rPr lang="es-ES" sz="900" b="1" dirty="0"/>
              <a:t>b) </a:t>
            </a:r>
            <a:r>
              <a:rPr lang="es-ES" sz="900" b="1" dirty="0" err="1"/>
              <a:t>Betweenness</a:t>
            </a:r>
            <a:r>
              <a:rPr lang="es-ES" sz="900" b="1" dirty="0"/>
              <a:t> como Guía:</a:t>
            </a:r>
            <a:endParaRPr lang="es-ES" sz="900" dirty="0"/>
          </a:p>
          <a:p>
            <a:pPr>
              <a:buFont typeface="Arial" panose="020B0604020202020204" pitchFamily="34" charset="0"/>
              <a:buChar char="•"/>
            </a:pPr>
            <a:r>
              <a:rPr lang="es-ES" sz="900" dirty="0"/>
              <a:t>Enlaces con alta intermediación conectan comunidades diferentes</a:t>
            </a:r>
          </a:p>
          <a:p>
            <a:pPr>
              <a:buFont typeface="Arial" panose="020B0604020202020204" pitchFamily="34" charset="0"/>
              <a:buChar char="•"/>
            </a:pPr>
            <a:r>
              <a:rPr lang="es-ES" sz="900" dirty="0"/>
              <a:t>Su eliminación revela la estructura subyacente</a:t>
            </a:r>
          </a:p>
          <a:p>
            <a:pPr>
              <a:buFont typeface="Arial" panose="020B0604020202020204" pitchFamily="34" charset="0"/>
              <a:buChar char="•"/>
            </a:pPr>
            <a:r>
              <a:rPr lang="es-ES" sz="900" dirty="0"/>
              <a:t>Fundamentación teórica sólida en teoría de flujos</a:t>
            </a:r>
          </a:p>
          <a:p>
            <a:pPr>
              <a:buNone/>
            </a:pPr>
            <a:r>
              <a:rPr lang="es-ES" sz="900" b="1" dirty="0"/>
              <a:t>c) </a:t>
            </a:r>
            <a:r>
              <a:rPr lang="es-ES" sz="900" b="1" dirty="0" err="1"/>
              <a:t>Dendrograma</a:t>
            </a:r>
            <a:r>
              <a:rPr lang="es-ES" sz="900" b="1" dirty="0"/>
              <a:t> Completo:</a:t>
            </a:r>
            <a:endParaRPr lang="es-ES" sz="900" dirty="0"/>
          </a:p>
          <a:p>
            <a:pPr>
              <a:buFont typeface="Arial" panose="020B0604020202020204" pitchFamily="34" charset="0"/>
              <a:buChar char="•"/>
            </a:pPr>
            <a:r>
              <a:rPr lang="es-ES" sz="900" dirty="0"/>
              <a:t>Registra cada paso de la división</a:t>
            </a:r>
          </a:p>
          <a:p>
            <a:pPr>
              <a:buFont typeface="Arial" panose="020B0604020202020204" pitchFamily="34" charset="0"/>
              <a:buChar char="•"/>
            </a:pPr>
            <a:r>
              <a:rPr lang="es-ES" sz="900" dirty="0"/>
              <a:t>Permite "cortar" el árbol a cualquier nivel</a:t>
            </a:r>
          </a:p>
          <a:p>
            <a:pPr>
              <a:buFont typeface="Arial" panose="020B0604020202020204" pitchFamily="34" charset="0"/>
              <a:buChar char="•"/>
            </a:pPr>
            <a:r>
              <a:rPr lang="es-ES" sz="900" dirty="0"/>
              <a:t>Visión completa de la jerarquía estructural</a:t>
            </a:r>
          </a:p>
        </p:txBody>
      </p:sp>
      <p:sp>
        <p:nvSpPr>
          <p:cNvPr id="14" name="CuadroTexto 13">
            <a:extLst>
              <a:ext uri="{FF2B5EF4-FFF2-40B4-BE49-F238E27FC236}">
                <a16:creationId xmlns:a16="http://schemas.microsoft.com/office/drawing/2014/main" id="{CDF4F9FD-91ED-13F7-A292-226E486BB3F5}"/>
              </a:ext>
            </a:extLst>
          </p:cNvPr>
          <p:cNvSpPr txBox="1"/>
          <p:nvPr/>
        </p:nvSpPr>
        <p:spPr>
          <a:xfrm>
            <a:off x="3813698" y="3425380"/>
            <a:ext cx="494046" cy="369332"/>
          </a:xfrm>
          <a:prstGeom prst="rect">
            <a:avLst/>
          </a:prstGeom>
          <a:noFill/>
        </p:spPr>
        <p:txBody>
          <a:bodyPr wrap="none" rtlCol="0">
            <a:spAutoFit/>
          </a:bodyPr>
          <a:lstStyle/>
          <a:p>
            <a:r>
              <a:rPr lang="es-419" dirty="0"/>
              <a:t>VS</a:t>
            </a:r>
          </a:p>
        </p:txBody>
      </p:sp>
      <p:sp>
        <p:nvSpPr>
          <p:cNvPr id="15" name="CuadroTexto 14">
            <a:extLst>
              <a:ext uri="{FF2B5EF4-FFF2-40B4-BE49-F238E27FC236}">
                <a16:creationId xmlns:a16="http://schemas.microsoft.com/office/drawing/2014/main" id="{FC2BAE42-5218-CD06-6055-A3272A1831E5}"/>
              </a:ext>
            </a:extLst>
          </p:cNvPr>
          <p:cNvSpPr txBox="1"/>
          <p:nvPr/>
        </p:nvSpPr>
        <p:spPr>
          <a:xfrm>
            <a:off x="7759495" y="3425380"/>
            <a:ext cx="494046" cy="369332"/>
          </a:xfrm>
          <a:prstGeom prst="rect">
            <a:avLst/>
          </a:prstGeom>
          <a:noFill/>
        </p:spPr>
        <p:txBody>
          <a:bodyPr wrap="none" rtlCol="0">
            <a:spAutoFit/>
          </a:bodyPr>
          <a:lstStyle/>
          <a:p>
            <a:r>
              <a:rPr lang="es-419" dirty="0"/>
              <a:t>VS</a:t>
            </a:r>
          </a:p>
        </p:txBody>
      </p:sp>
    </p:spTree>
    <p:extLst>
      <p:ext uri="{BB962C8B-B14F-4D97-AF65-F5344CB8AC3E}">
        <p14:creationId xmlns:p14="http://schemas.microsoft.com/office/powerpoint/2010/main" val="1276152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9">
            <a:extLst>
              <a:ext uri="{FF2B5EF4-FFF2-40B4-BE49-F238E27FC236}">
                <a16:creationId xmlns:a16="http://schemas.microsoft.com/office/drawing/2014/main" id="{6ACA6F80-D392-A64E-3CF8-F28F1CCEE6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B1EC7D14-78A2-1887-7436-1FE8B6CB332C}"/>
              </a:ext>
            </a:extLst>
          </p:cNvPr>
          <p:cNvSpPr>
            <a:spLocks noGrp="1"/>
          </p:cNvSpPr>
          <p:nvPr>
            <p:ph type="title"/>
          </p:nvPr>
        </p:nvSpPr>
        <p:spPr>
          <a:xfrm>
            <a:off x="614679" y="548640"/>
            <a:ext cx="4779572" cy="2067705"/>
          </a:xfrm>
        </p:spPr>
        <p:txBody>
          <a:bodyPr anchor="t">
            <a:normAutofit/>
          </a:bodyPr>
          <a:lstStyle/>
          <a:p>
            <a:r>
              <a:rPr lang="es-CL" dirty="0"/>
              <a:t>Métricas y medidas estructurales</a:t>
            </a:r>
          </a:p>
        </p:txBody>
      </p:sp>
      <p:pic>
        <p:nvPicPr>
          <p:cNvPr id="13" name="Graphic 6" descr="Estadísticas">
            <a:extLst>
              <a:ext uri="{FF2B5EF4-FFF2-40B4-BE49-F238E27FC236}">
                <a16:creationId xmlns:a16="http://schemas.microsoft.com/office/drawing/2014/main" id="{745FE74A-3E94-569E-8030-557C5B32E91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1520" y="2976281"/>
            <a:ext cx="3333077" cy="3333077"/>
          </a:xfrm>
          <a:prstGeom prst="rect">
            <a:avLst/>
          </a:prstGeom>
        </p:spPr>
      </p:pic>
      <p:sp>
        <p:nvSpPr>
          <p:cNvPr id="3" name="Marcador de contenido 2">
            <a:extLst>
              <a:ext uri="{FF2B5EF4-FFF2-40B4-BE49-F238E27FC236}">
                <a16:creationId xmlns:a16="http://schemas.microsoft.com/office/drawing/2014/main" id="{6DAE8358-A19C-8DE2-A0E9-DEBAF475E4F3}"/>
              </a:ext>
            </a:extLst>
          </p:cNvPr>
          <p:cNvSpPr>
            <a:spLocks noGrp="1"/>
          </p:cNvSpPr>
          <p:nvPr>
            <p:ph idx="1"/>
          </p:nvPr>
        </p:nvSpPr>
        <p:spPr>
          <a:xfrm>
            <a:off x="6030551" y="548638"/>
            <a:ext cx="5546770" cy="5760721"/>
          </a:xfrm>
        </p:spPr>
        <p:txBody>
          <a:bodyPr anchor="t">
            <a:normAutofit/>
          </a:bodyPr>
          <a:lstStyle/>
          <a:p>
            <a:pPr>
              <a:lnSpc>
                <a:spcPct val="110000"/>
              </a:lnSpc>
            </a:pPr>
            <a:r>
              <a:rPr lang="es-ES" sz="1400" b="1" dirty="0"/>
              <a:t>Métricas estructurales</a:t>
            </a:r>
          </a:p>
          <a:p>
            <a:pPr>
              <a:lnSpc>
                <a:spcPct val="110000"/>
              </a:lnSpc>
            </a:pPr>
            <a:r>
              <a:rPr lang="es-ES" sz="1400" b="1" dirty="0"/>
              <a:t>Grado:</a:t>
            </a:r>
            <a:r>
              <a:rPr lang="es-ES" sz="1400" dirty="0"/>
              <a:t> número de conexiones por nodo → identifica los </a:t>
            </a:r>
            <a:r>
              <a:rPr lang="es-ES" sz="1400" i="1" dirty="0" err="1"/>
              <a:t>hubs</a:t>
            </a:r>
            <a:r>
              <a:rPr lang="es-ES" sz="1400" dirty="0"/>
              <a:t>.</a:t>
            </a:r>
          </a:p>
          <a:p>
            <a:pPr>
              <a:lnSpc>
                <a:spcPct val="110000"/>
              </a:lnSpc>
            </a:pPr>
            <a:r>
              <a:rPr lang="es-ES" sz="1400" b="1" dirty="0"/>
              <a:t>Densidad:</a:t>
            </a:r>
            <a:r>
              <a:rPr lang="es-ES" sz="1400" dirty="0"/>
              <a:t> mide cuán conectada está la red en general.</a:t>
            </a:r>
          </a:p>
          <a:p>
            <a:pPr>
              <a:lnSpc>
                <a:spcPct val="110000"/>
              </a:lnSpc>
            </a:pPr>
            <a:r>
              <a:rPr lang="es-ES" sz="1400" b="1" dirty="0" err="1"/>
              <a:t>Clustering</a:t>
            </a:r>
            <a:r>
              <a:rPr lang="es-ES" sz="1400" b="1" dirty="0"/>
              <a:t>:</a:t>
            </a:r>
            <a:r>
              <a:rPr lang="es-ES" sz="1400" dirty="0"/>
              <a:t> muestra si los nodos forman grupos cerrados o triángulos.</a:t>
            </a:r>
          </a:p>
          <a:p>
            <a:pPr>
              <a:lnSpc>
                <a:spcPct val="110000"/>
              </a:lnSpc>
            </a:pPr>
            <a:r>
              <a:rPr lang="es-ES" sz="1400" b="1" dirty="0"/>
              <a:t>Centralidad:</a:t>
            </a:r>
            <a:r>
              <a:rPr lang="es-ES" sz="1400" dirty="0"/>
              <a:t> revela los nodos más importantes o influyentes.</a:t>
            </a:r>
            <a:br>
              <a:rPr lang="es-ES" sz="1400" dirty="0"/>
            </a:br>
            <a:endParaRPr lang="es-ES" sz="1400" dirty="0"/>
          </a:p>
          <a:p>
            <a:pPr>
              <a:lnSpc>
                <a:spcPct val="110000"/>
              </a:lnSpc>
            </a:pPr>
            <a:r>
              <a:rPr lang="es-ES" sz="1400" b="1" dirty="0"/>
              <a:t>Evaluación de comunidades</a:t>
            </a:r>
          </a:p>
          <a:p>
            <a:pPr>
              <a:lnSpc>
                <a:spcPct val="110000"/>
              </a:lnSpc>
            </a:pPr>
            <a:r>
              <a:rPr lang="es-ES" sz="1400" b="1" dirty="0"/>
              <a:t>Modularidad:</a:t>
            </a:r>
            <a:r>
              <a:rPr lang="es-ES" sz="1400" dirty="0"/>
              <a:t> indica qué tan bien separadas están las comunidades.</a:t>
            </a:r>
          </a:p>
          <a:p>
            <a:pPr>
              <a:lnSpc>
                <a:spcPct val="110000"/>
              </a:lnSpc>
            </a:pPr>
            <a:r>
              <a:rPr lang="es-ES" sz="1400" b="1" dirty="0"/>
              <a:t>Conductancia:</a:t>
            </a:r>
            <a:r>
              <a:rPr lang="es-ES" sz="1400" dirty="0"/>
              <a:t> mide cuántos enlaces salen de una comunidad.</a:t>
            </a:r>
          </a:p>
          <a:p>
            <a:pPr>
              <a:lnSpc>
                <a:spcPct val="110000"/>
              </a:lnSpc>
            </a:pPr>
            <a:r>
              <a:rPr lang="es-ES" sz="1400" b="1" dirty="0"/>
              <a:t>NMI:</a:t>
            </a:r>
            <a:r>
              <a:rPr lang="es-ES" sz="1400" dirty="0"/>
              <a:t> compara la estabilidad entre particiones o momentos.</a:t>
            </a:r>
            <a:br>
              <a:rPr lang="es-ES" sz="1400" dirty="0"/>
            </a:br>
            <a:endParaRPr lang="es-ES" sz="1400" dirty="0"/>
          </a:p>
          <a:p>
            <a:pPr>
              <a:lnSpc>
                <a:spcPct val="110000"/>
              </a:lnSpc>
            </a:pPr>
            <a:r>
              <a:rPr lang="es-ES" sz="1400" dirty="0"/>
              <a:t>-Estas métricas permiten entender la </a:t>
            </a:r>
            <a:r>
              <a:rPr lang="es-ES" sz="1400" b="1" dirty="0"/>
              <a:t>organización interna</a:t>
            </a:r>
            <a:r>
              <a:rPr lang="es-ES" sz="1400" dirty="0"/>
              <a:t> de la red y verificar si las comunidades son </a:t>
            </a:r>
            <a:r>
              <a:rPr lang="es-ES" sz="1400" b="1" dirty="0"/>
              <a:t>cohesivas y estables</a:t>
            </a:r>
            <a:r>
              <a:rPr lang="es-ES" sz="1400" dirty="0"/>
              <a:t>.</a:t>
            </a:r>
          </a:p>
          <a:p>
            <a:pPr>
              <a:lnSpc>
                <a:spcPct val="110000"/>
              </a:lnSpc>
            </a:pPr>
            <a:endParaRPr lang="es-CL" sz="1300" dirty="0"/>
          </a:p>
        </p:txBody>
      </p:sp>
    </p:spTree>
    <p:extLst>
      <p:ext uri="{BB962C8B-B14F-4D97-AF65-F5344CB8AC3E}">
        <p14:creationId xmlns:p14="http://schemas.microsoft.com/office/powerpoint/2010/main" val="17604804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B50C04-A239-9B3F-9CDA-E2826B0E59D9}"/>
              </a:ext>
            </a:extLst>
          </p:cNvPr>
          <p:cNvSpPr>
            <a:spLocks noGrp="1"/>
          </p:cNvSpPr>
          <p:nvPr>
            <p:ph type="title"/>
          </p:nvPr>
        </p:nvSpPr>
        <p:spPr/>
        <p:txBody>
          <a:bodyPr/>
          <a:lstStyle/>
          <a:p>
            <a:r>
              <a:rPr lang="es-CL" dirty="0"/>
              <a:t>Análisis, visualización e interpretación</a:t>
            </a:r>
          </a:p>
        </p:txBody>
      </p:sp>
      <p:sp>
        <p:nvSpPr>
          <p:cNvPr id="3" name="Marcador de contenido 2">
            <a:extLst>
              <a:ext uri="{FF2B5EF4-FFF2-40B4-BE49-F238E27FC236}">
                <a16:creationId xmlns:a16="http://schemas.microsoft.com/office/drawing/2014/main" id="{4DA316D3-BC02-3B7D-83A3-4D28C2B9C155}"/>
              </a:ext>
            </a:extLst>
          </p:cNvPr>
          <p:cNvSpPr>
            <a:spLocks noGrp="1"/>
          </p:cNvSpPr>
          <p:nvPr>
            <p:ph idx="1"/>
          </p:nvPr>
        </p:nvSpPr>
        <p:spPr>
          <a:xfrm>
            <a:off x="612647" y="1715532"/>
            <a:ext cx="5640669" cy="4593828"/>
          </a:xfrm>
        </p:spPr>
        <p:txBody>
          <a:bodyPr>
            <a:normAutofit fontScale="70000" lnSpcReduction="20000"/>
          </a:bodyPr>
          <a:lstStyle/>
          <a:p>
            <a:r>
              <a:rPr lang="es-ES" b="1" dirty="0"/>
              <a:t>Análisis de resultados</a:t>
            </a:r>
          </a:p>
          <a:p>
            <a:r>
              <a:rPr lang="es-ES" dirty="0"/>
              <a:t>El algoritmo </a:t>
            </a:r>
            <a:r>
              <a:rPr lang="es-ES" b="1" dirty="0" err="1"/>
              <a:t>Louvain</a:t>
            </a:r>
            <a:r>
              <a:rPr lang="es-ES" dirty="0"/>
              <a:t> detectó más de </a:t>
            </a:r>
            <a:r>
              <a:rPr lang="es-ES" b="1" dirty="0"/>
              <a:t>11.000 comunidades</a:t>
            </a:r>
            <a:r>
              <a:rPr lang="es-ES" dirty="0"/>
              <a:t> con </a:t>
            </a:r>
            <a:r>
              <a:rPr lang="es-ES" b="1" dirty="0"/>
              <a:t>alta modularidad (≈0.50)</a:t>
            </a:r>
            <a:r>
              <a:rPr lang="es-ES" dirty="0"/>
              <a:t>.</a:t>
            </a:r>
          </a:p>
          <a:p>
            <a:r>
              <a:rPr lang="es-ES" dirty="0"/>
              <a:t>Se observan </a:t>
            </a:r>
            <a:r>
              <a:rPr lang="es-ES" b="1" dirty="0"/>
              <a:t>núcleos densos</a:t>
            </a:r>
            <a:r>
              <a:rPr lang="es-ES" dirty="0"/>
              <a:t> conectados por pocos nodos puente.</a:t>
            </a:r>
          </a:p>
          <a:p>
            <a:r>
              <a:rPr lang="es-ES" dirty="0"/>
              <a:t>Las métricas confirman una </a:t>
            </a:r>
            <a:r>
              <a:rPr lang="es-ES" b="1" dirty="0"/>
              <a:t>estructura modular fuerte</a:t>
            </a:r>
            <a:r>
              <a:rPr lang="es-ES" dirty="0"/>
              <a:t>, típica de redes de conocimiento.</a:t>
            </a:r>
            <a:br>
              <a:rPr lang="es-ES" dirty="0"/>
            </a:br>
            <a:endParaRPr lang="es-ES" dirty="0"/>
          </a:p>
          <a:p>
            <a:r>
              <a:rPr lang="es-ES" b="1" dirty="0"/>
              <a:t>Interpretación de resultados</a:t>
            </a:r>
          </a:p>
          <a:p>
            <a:r>
              <a:rPr lang="es-ES" dirty="0"/>
              <a:t>La red de Wikipedia muestra </a:t>
            </a:r>
            <a:r>
              <a:rPr lang="es-ES" b="1" dirty="0"/>
              <a:t>agrupaciones naturales de temas</a:t>
            </a:r>
            <a:r>
              <a:rPr lang="es-ES" dirty="0"/>
              <a:t>.</a:t>
            </a:r>
          </a:p>
          <a:p>
            <a:r>
              <a:rPr lang="es-ES" dirty="0"/>
              <a:t>Los </a:t>
            </a:r>
            <a:r>
              <a:rPr lang="es-ES" b="1" dirty="0" err="1"/>
              <a:t>hubs</a:t>
            </a:r>
            <a:r>
              <a:rPr lang="es-ES" dirty="0"/>
              <a:t> funcionan como conectores globales del conocimiento.</a:t>
            </a:r>
          </a:p>
          <a:p>
            <a:r>
              <a:rPr lang="es-ES" dirty="0"/>
              <a:t>Se evidencia una </a:t>
            </a:r>
            <a:r>
              <a:rPr lang="es-ES" b="1" dirty="0"/>
              <a:t>organización jerárquica y estable</a:t>
            </a:r>
            <a:r>
              <a:rPr lang="es-ES" dirty="0"/>
              <a:t> en la estructura del grafo.</a:t>
            </a:r>
          </a:p>
          <a:p>
            <a:endParaRPr lang="es-CL" dirty="0"/>
          </a:p>
        </p:txBody>
      </p:sp>
      <p:sp>
        <p:nvSpPr>
          <p:cNvPr id="4" name="CuadroTexto 3">
            <a:extLst>
              <a:ext uri="{FF2B5EF4-FFF2-40B4-BE49-F238E27FC236}">
                <a16:creationId xmlns:a16="http://schemas.microsoft.com/office/drawing/2014/main" id="{AED62CA3-B371-6A4A-039B-0797D0FC62C4}"/>
              </a:ext>
            </a:extLst>
          </p:cNvPr>
          <p:cNvSpPr txBox="1"/>
          <p:nvPr/>
        </p:nvSpPr>
        <p:spPr>
          <a:xfrm>
            <a:off x="6348402" y="1857649"/>
            <a:ext cx="4858830" cy="1354217"/>
          </a:xfrm>
          <a:prstGeom prst="rect">
            <a:avLst/>
          </a:prstGeom>
          <a:noFill/>
        </p:spPr>
        <p:txBody>
          <a:bodyPr wrap="square" rtlCol="0">
            <a:spAutoFit/>
          </a:bodyPr>
          <a:lstStyle/>
          <a:p>
            <a:r>
              <a:rPr lang="es-ES" sz="1600" b="1" dirty="0"/>
              <a:t>Visualización de resultados</a:t>
            </a:r>
          </a:p>
          <a:p>
            <a:r>
              <a:rPr lang="es-ES" sz="1600" dirty="0"/>
              <a:t>Cada color representa una comunidad temática.</a:t>
            </a:r>
          </a:p>
          <a:p>
            <a:r>
              <a:rPr lang="es-ES" sz="1600" dirty="0"/>
              <a:t>Los nodos centrales unen diferentes áreas; los periféricos son temas específicos.</a:t>
            </a:r>
          </a:p>
          <a:p>
            <a:endParaRPr lang="es-CL" dirty="0"/>
          </a:p>
        </p:txBody>
      </p:sp>
      <p:pic>
        <p:nvPicPr>
          <p:cNvPr id="6" name="Imagen 5" descr="Gráfico&#10;&#10;El contenido generado por IA puede ser incorrecto.">
            <a:extLst>
              <a:ext uri="{FF2B5EF4-FFF2-40B4-BE49-F238E27FC236}">
                <a16:creationId xmlns:a16="http://schemas.microsoft.com/office/drawing/2014/main" id="{AFA4DDD3-41FB-1617-5A6D-E4BC3371C8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48402" y="3271684"/>
            <a:ext cx="4978026" cy="3138948"/>
          </a:xfrm>
          <a:prstGeom prst="rect">
            <a:avLst/>
          </a:prstGeom>
        </p:spPr>
      </p:pic>
    </p:spTree>
    <p:extLst>
      <p:ext uri="{BB962C8B-B14F-4D97-AF65-F5344CB8AC3E}">
        <p14:creationId xmlns:p14="http://schemas.microsoft.com/office/powerpoint/2010/main" val="26538715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ACA6F80-D392-A64E-3CF8-F28F1CCEE6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4FB5020-DA3F-2332-0BEF-5D1E5BC9769E}"/>
              </a:ext>
            </a:extLst>
          </p:cNvPr>
          <p:cNvSpPr>
            <a:spLocks noGrp="1"/>
          </p:cNvSpPr>
          <p:nvPr>
            <p:ph type="title"/>
          </p:nvPr>
        </p:nvSpPr>
        <p:spPr>
          <a:xfrm>
            <a:off x="614679" y="548640"/>
            <a:ext cx="4779572" cy="2067705"/>
          </a:xfrm>
        </p:spPr>
        <p:txBody>
          <a:bodyPr anchor="t">
            <a:normAutofit/>
          </a:bodyPr>
          <a:lstStyle/>
          <a:p>
            <a:r>
              <a:rPr lang="es-CL" dirty="0"/>
              <a:t>Conclusiones</a:t>
            </a:r>
          </a:p>
        </p:txBody>
      </p:sp>
      <p:pic>
        <p:nvPicPr>
          <p:cNvPr id="7" name="Graphic 6" descr="Huella digital">
            <a:extLst>
              <a:ext uri="{FF2B5EF4-FFF2-40B4-BE49-F238E27FC236}">
                <a16:creationId xmlns:a16="http://schemas.microsoft.com/office/drawing/2014/main" id="{369EEA88-61B2-5809-47A2-D692F5E00B1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296400" y="-285079"/>
            <a:ext cx="3333077" cy="3333077"/>
          </a:xfrm>
          <a:prstGeom prst="rect">
            <a:avLst/>
          </a:prstGeom>
        </p:spPr>
      </p:pic>
      <p:sp>
        <p:nvSpPr>
          <p:cNvPr id="3" name="Marcador de contenido 2">
            <a:extLst>
              <a:ext uri="{FF2B5EF4-FFF2-40B4-BE49-F238E27FC236}">
                <a16:creationId xmlns:a16="http://schemas.microsoft.com/office/drawing/2014/main" id="{CBA22860-0D0B-D3F9-5A99-06F8C371CE74}"/>
              </a:ext>
            </a:extLst>
          </p:cNvPr>
          <p:cNvSpPr>
            <a:spLocks noGrp="1"/>
          </p:cNvSpPr>
          <p:nvPr>
            <p:ph idx="1"/>
          </p:nvPr>
        </p:nvSpPr>
        <p:spPr>
          <a:xfrm>
            <a:off x="614678" y="1056640"/>
            <a:ext cx="11353801" cy="5252719"/>
          </a:xfrm>
        </p:spPr>
        <p:txBody>
          <a:bodyPr anchor="t">
            <a:normAutofit fontScale="85000" lnSpcReduction="20000"/>
          </a:bodyPr>
          <a:lstStyle/>
          <a:p>
            <a:pPr>
              <a:lnSpc>
                <a:spcPct val="110000"/>
              </a:lnSpc>
            </a:pPr>
            <a:r>
              <a:rPr lang="es-ES" sz="1400" b="1" dirty="0"/>
              <a:t>Éxitos conseguidos</a:t>
            </a:r>
          </a:p>
          <a:p>
            <a:pPr>
              <a:lnSpc>
                <a:spcPct val="110000"/>
              </a:lnSpc>
            </a:pPr>
            <a:r>
              <a:rPr lang="es-ES" sz="1400" dirty="0"/>
              <a:t>Se </a:t>
            </a:r>
            <a:r>
              <a:rPr lang="es-ES" sz="1400" b="1" dirty="0"/>
              <a:t>detectaron comunidades temáticas</a:t>
            </a:r>
            <a:r>
              <a:rPr lang="es-ES" sz="1400" dirty="0"/>
              <a:t> bien definidas dentro de Wikipedia.</a:t>
            </a:r>
          </a:p>
          <a:p>
            <a:pPr>
              <a:lnSpc>
                <a:spcPct val="110000"/>
              </a:lnSpc>
            </a:pPr>
            <a:r>
              <a:rPr lang="es-ES" sz="1400" dirty="0"/>
              <a:t>El algoritmo </a:t>
            </a:r>
            <a:r>
              <a:rPr lang="es-ES" sz="1400" b="1" dirty="0" err="1"/>
              <a:t>Louvain</a:t>
            </a:r>
            <a:r>
              <a:rPr lang="es-ES" sz="1400" dirty="0"/>
              <a:t> logró una </a:t>
            </a:r>
            <a:r>
              <a:rPr lang="es-ES" sz="1400" b="1" dirty="0"/>
              <a:t>modularidad alta (≈0.50)</a:t>
            </a:r>
            <a:r>
              <a:rPr lang="es-ES" sz="1400" dirty="0"/>
              <a:t>, evidenciando una estructura coherente.</a:t>
            </a:r>
          </a:p>
          <a:p>
            <a:pPr>
              <a:lnSpc>
                <a:spcPct val="110000"/>
              </a:lnSpc>
            </a:pPr>
            <a:r>
              <a:rPr lang="es-ES" sz="1400" dirty="0"/>
              <a:t>Se integraron </a:t>
            </a:r>
            <a:r>
              <a:rPr lang="es-ES" sz="1400" b="1" dirty="0"/>
              <a:t>métricas estructurales y de centralidad</a:t>
            </a:r>
            <a:r>
              <a:rPr lang="es-ES" sz="1400" dirty="0"/>
              <a:t>, mostrando los nodos más influyentes y la organización interna de la red.</a:t>
            </a:r>
          </a:p>
          <a:p>
            <a:pPr>
              <a:lnSpc>
                <a:spcPct val="110000"/>
              </a:lnSpc>
            </a:pPr>
            <a:endParaRPr lang="es-ES" sz="1400" dirty="0"/>
          </a:p>
          <a:p>
            <a:pPr>
              <a:lnSpc>
                <a:spcPct val="110000"/>
              </a:lnSpc>
            </a:pPr>
            <a:r>
              <a:rPr lang="es-ES" sz="1400" b="1" dirty="0"/>
              <a:t>Avances en el área</a:t>
            </a:r>
          </a:p>
          <a:p>
            <a:pPr>
              <a:lnSpc>
                <a:spcPct val="110000"/>
              </a:lnSpc>
            </a:pPr>
            <a:r>
              <a:rPr lang="es-ES" sz="1400" dirty="0"/>
              <a:t>Se demostró que el </a:t>
            </a:r>
            <a:r>
              <a:rPr lang="es-ES" sz="1400" b="1" dirty="0"/>
              <a:t>análisis de redes</a:t>
            </a:r>
            <a:r>
              <a:rPr lang="es-ES" sz="1400" dirty="0"/>
              <a:t> permite entender cómo se organiza el conocimiento en sistemas complejos.</a:t>
            </a:r>
          </a:p>
          <a:p>
            <a:pPr>
              <a:lnSpc>
                <a:spcPct val="110000"/>
              </a:lnSpc>
            </a:pPr>
            <a:r>
              <a:rPr lang="es-ES" sz="1400" dirty="0"/>
              <a:t>Se comprobó la </a:t>
            </a:r>
            <a:r>
              <a:rPr lang="es-ES" sz="1400" b="1" dirty="0"/>
              <a:t>utilidad de los modelos de comunidades</a:t>
            </a:r>
            <a:r>
              <a:rPr lang="es-ES" sz="1400" dirty="0"/>
              <a:t> para identificar relaciones ocultas entre temas.</a:t>
            </a:r>
          </a:p>
          <a:p>
            <a:pPr>
              <a:lnSpc>
                <a:spcPct val="110000"/>
              </a:lnSpc>
            </a:pPr>
            <a:endParaRPr lang="es-ES" sz="1400" dirty="0"/>
          </a:p>
          <a:p>
            <a:pPr>
              <a:lnSpc>
                <a:spcPct val="110000"/>
              </a:lnSpc>
            </a:pPr>
            <a:r>
              <a:rPr lang="es-ES" sz="1400" b="1" dirty="0"/>
              <a:t>Problemas o riesgos</a:t>
            </a:r>
          </a:p>
          <a:p>
            <a:pPr>
              <a:lnSpc>
                <a:spcPct val="110000"/>
              </a:lnSpc>
            </a:pPr>
            <a:r>
              <a:rPr lang="es-ES" sz="1400" b="1" dirty="0"/>
              <a:t>Limitaciones del </a:t>
            </a:r>
            <a:r>
              <a:rPr lang="es-ES" sz="1400" b="1" dirty="0" err="1"/>
              <a:t>dataset</a:t>
            </a:r>
            <a:r>
              <a:rPr lang="es-ES" sz="1400" dirty="0"/>
              <a:t>: tamaño muy grande, requería muestreo y reducción.</a:t>
            </a:r>
          </a:p>
          <a:p>
            <a:pPr>
              <a:lnSpc>
                <a:spcPct val="110000"/>
              </a:lnSpc>
            </a:pPr>
            <a:r>
              <a:rPr lang="es-ES" sz="1400" b="1" dirty="0"/>
              <a:t>Coste computacional alto</a:t>
            </a:r>
            <a:r>
              <a:rPr lang="es-ES" sz="1400" dirty="0"/>
              <a:t> en algoritmos como </a:t>
            </a:r>
            <a:r>
              <a:rPr lang="es-ES" sz="1400" dirty="0" err="1"/>
              <a:t>Girvan</a:t>
            </a:r>
            <a:r>
              <a:rPr lang="es-ES" sz="1400" dirty="0"/>
              <a:t>–Newman.</a:t>
            </a:r>
          </a:p>
          <a:p>
            <a:pPr>
              <a:lnSpc>
                <a:spcPct val="110000"/>
              </a:lnSpc>
            </a:pPr>
            <a:r>
              <a:rPr lang="es-ES" sz="1400" b="1" dirty="0"/>
              <a:t>Variabilidad</a:t>
            </a:r>
            <a:r>
              <a:rPr lang="es-ES" sz="1400" dirty="0"/>
              <a:t> en métodos como </a:t>
            </a:r>
            <a:r>
              <a:rPr lang="es-ES" sz="1400" dirty="0" err="1"/>
              <a:t>Label</a:t>
            </a:r>
            <a:r>
              <a:rPr lang="es-ES" sz="1400" dirty="0"/>
              <a:t> </a:t>
            </a:r>
            <a:r>
              <a:rPr lang="es-ES" sz="1400" dirty="0" err="1"/>
              <a:t>Propagation</a:t>
            </a:r>
            <a:r>
              <a:rPr lang="es-ES" sz="1400"/>
              <a:t>.</a:t>
            </a:r>
          </a:p>
          <a:p>
            <a:pPr>
              <a:lnSpc>
                <a:spcPct val="110000"/>
              </a:lnSpc>
            </a:pPr>
            <a:endParaRPr lang="es-ES" sz="1400" dirty="0"/>
          </a:p>
          <a:p>
            <a:pPr>
              <a:lnSpc>
                <a:spcPct val="110000"/>
              </a:lnSpc>
            </a:pPr>
            <a:r>
              <a:rPr lang="es-ES" sz="1400" b="1" dirty="0"/>
              <a:t>Oportunidades futuras</a:t>
            </a:r>
          </a:p>
          <a:p>
            <a:pPr>
              <a:lnSpc>
                <a:spcPct val="110000"/>
              </a:lnSpc>
            </a:pPr>
            <a:r>
              <a:rPr lang="es-ES" sz="1400" dirty="0"/>
              <a:t>Analizar la </a:t>
            </a:r>
            <a:r>
              <a:rPr lang="es-ES" sz="1400" b="1" dirty="0"/>
              <a:t>evolución temporal</a:t>
            </a:r>
            <a:r>
              <a:rPr lang="es-ES" sz="1400" dirty="0"/>
              <a:t> de las comunidades en diferentes años de Wikipedia.</a:t>
            </a:r>
          </a:p>
          <a:p>
            <a:pPr>
              <a:lnSpc>
                <a:spcPct val="110000"/>
              </a:lnSpc>
            </a:pPr>
            <a:r>
              <a:rPr lang="es-ES" sz="1400" dirty="0"/>
              <a:t>Incorporar </a:t>
            </a:r>
            <a:r>
              <a:rPr lang="es-ES" sz="1400" b="1" dirty="0"/>
              <a:t>técnicas basadas en aprendizaje automático</a:t>
            </a:r>
            <a:r>
              <a:rPr lang="es-ES" sz="1400" dirty="0"/>
              <a:t> o </a:t>
            </a:r>
            <a:r>
              <a:rPr lang="es-ES" sz="1400" dirty="0" err="1"/>
              <a:t>embeddings</a:t>
            </a:r>
            <a:r>
              <a:rPr lang="es-ES" sz="1400" dirty="0"/>
              <a:t> de grafos.</a:t>
            </a:r>
          </a:p>
          <a:p>
            <a:pPr>
              <a:lnSpc>
                <a:spcPct val="110000"/>
              </a:lnSpc>
            </a:pPr>
            <a:r>
              <a:rPr lang="es-ES" sz="1400" dirty="0"/>
              <a:t>Explorar </a:t>
            </a:r>
            <a:r>
              <a:rPr lang="es-ES" sz="1400" b="1" dirty="0"/>
              <a:t>visualizaciones dinámicas</a:t>
            </a:r>
            <a:r>
              <a:rPr lang="es-ES" sz="1400" dirty="0"/>
              <a:t> que muestren cómo se conectan los temas en distintos niveles.</a:t>
            </a:r>
          </a:p>
          <a:p>
            <a:pPr>
              <a:lnSpc>
                <a:spcPct val="110000"/>
              </a:lnSpc>
            </a:pPr>
            <a:endParaRPr lang="es-CL" sz="700" dirty="0"/>
          </a:p>
        </p:txBody>
      </p:sp>
    </p:spTree>
    <p:extLst>
      <p:ext uri="{BB962C8B-B14F-4D97-AF65-F5344CB8AC3E}">
        <p14:creationId xmlns:p14="http://schemas.microsoft.com/office/powerpoint/2010/main" val="2686816546"/>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470</TotalTime>
  <Words>1850</Words>
  <Application>Microsoft Office PowerPoint</Application>
  <PresentationFormat>Panorámica</PresentationFormat>
  <Paragraphs>186</Paragraphs>
  <Slides>19</Slides>
  <Notes>3</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19</vt:i4>
      </vt:variant>
    </vt:vector>
  </HeadingPairs>
  <TitlesOfParts>
    <vt:vector size="23" baseType="lpstr">
      <vt:lpstr>Aptos</vt:lpstr>
      <vt:lpstr>Arial</vt:lpstr>
      <vt:lpstr>Neue Haas Grotesk Text Pro</vt:lpstr>
      <vt:lpstr>VanillaVTI</vt:lpstr>
      <vt:lpstr>Detección de Comunidades en Redes Complejas</vt:lpstr>
      <vt:lpstr>Introducción</vt:lpstr>
      <vt:lpstr>Ejemplos, planteamiento y solución</vt:lpstr>
      <vt:lpstr>Ejemplos, planteamiento y solución</vt:lpstr>
      <vt:lpstr>Presentación de PowerPoint</vt:lpstr>
      <vt:lpstr>Modelos y algoritmos</vt:lpstr>
      <vt:lpstr>Presentación de PowerPoint</vt:lpstr>
      <vt:lpstr>Presentación de PowerPoint</vt:lpstr>
      <vt:lpstr>Presentación de PowerPoint</vt:lpstr>
      <vt:lpstr>Modelos y algoritmos</vt:lpstr>
      <vt:lpstr>Presentación de PowerPoint</vt:lpstr>
      <vt:lpstr>Presentación de PowerPoint</vt:lpstr>
      <vt:lpstr>Modelos y algoritmos</vt:lpstr>
      <vt:lpstr>Presentación de PowerPoint</vt:lpstr>
      <vt:lpstr>Presentación de PowerPoint</vt:lpstr>
      <vt:lpstr>Modelos y algoritmos</vt:lpstr>
      <vt:lpstr>Métricas y medidas estructurales</vt:lpstr>
      <vt:lpstr>Análisis, visualización e interpretación</vt:lpstr>
      <vt:lpstr>Conclusiones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Niko A7x</dc:creator>
  <cp:lastModifiedBy>Dante Chavez</cp:lastModifiedBy>
  <cp:revision>3</cp:revision>
  <dcterms:created xsi:type="dcterms:W3CDTF">2025-11-11T02:25:29Z</dcterms:created>
  <dcterms:modified xsi:type="dcterms:W3CDTF">2025-11-13T16:33:07Z</dcterms:modified>
</cp:coreProperties>
</file>